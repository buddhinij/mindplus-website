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19"/>
  </p:notesMasterIdLst>
  <p:sldIdLst>
    <p:sldId id="256" r:id="rId5"/>
    <p:sldId id="309" r:id="rId6"/>
    <p:sldId id="301" r:id="rId7"/>
    <p:sldId id="303" r:id="rId8"/>
    <p:sldId id="313" r:id="rId9"/>
    <p:sldId id="314" r:id="rId10"/>
    <p:sldId id="315" r:id="rId11"/>
    <p:sldId id="316" r:id="rId12"/>
    <p:sldId id="319" r:id="rId13"/>
    <p:sldId id="307" r:id="rId14"/>
    <p:sldId id="317" r:id="rId15"/>
    <p:sldId id="318" r:id="rId16"/>
    <p:sldId id="320" r:id="rId17"/>
    <p:sldId id="291" r:id="rId18"/>
  </p:sldIdLst>
  <p:sldSz cx="18288000" cy="10287000"/>
  <p:notesSz cx="6858000" cy="9144000"/>
  <p:embeddedFontLst>
    <p:embeddedFont>
      <p:font typeface="Futura" panose="020B0604020202020204" charset="0"/>
      <p:regular r:id="rId20"/>
    </p:embeddedFont>
    <p:embeddedFont>
      <p:font typeface="Futura Bold" panose="020B0604020202020204" charset="0"/>
      <p:regular r:id="rId21"/>
    </p:embeddedFont>
    <p:embeddedFont>
      <p:font typeface="Glacial Indifference Bold" panose="020B0604020202020204" charset="0"/>
      <p:regular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  <p:embeddedFont>
      <p:font typeface="League Spartan" panose="020B0604020202020204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77AD"/>
    <a:srgbClr val="4F81BD"/>
    <a:srgbClr val="2735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51C7AA-3458-4B4F-8189-7CDF320DBABB}" type="doc">
      <dgm:prSet loTypeId="urn:microsoft.com/office/officeart/2005/8/layout/process5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3ECCB4A3-6C4D-4E66-8CDA-F84700A57D62}">
      <dgm:prSet phldrT="[Text]" phldr="0"/>
      <dgm:spPr/>
      <dgm:t>
        <a:bodyPr/>
        <a:lstStyle/>
        <a:p>
          <a:r>
            <a:rPr lang="en-US"/>
            <a:t>Increasing Academic Demands</a:t>
          </a:r>
        </a:p>
      </dgm:t>
    </dgm:pt>
    <dgm:pt modelId="{A4806A84-B1B6-4FA5-B8F5-D89F693B1860}" type="parTrans" cxnId="{37556CDA-7E5B-44DC-9AE3-48628D79E8B3}">
      <dgm:prSet/>
      <dgm:spPr/>
      <dgm:t>
        <a:bodyPr/>
        <a:lstStyle/>
        <a:p>
          <a:endParaRPr lang="en-US"/>
        </a:p>
      </dgm:t>
    </dgm:pt>
    <dgm:pt modelId="{2A6360AC-9F76-44F1-9DFA-E8CA2D8CA167}" type="sibTrans" cxnId="{37556CDA-7E5B-44DC-9AE3-48628D79E8B3}">
      <dgm:prSet/>
      <dgm:spPr/>
      <dgm:t>
        <a:bodyPr/>
        <a:lstStyle/>
        <a:p>
          <a:endParaRPr lang="en-US"/>
        </a:p>
      </dgm:t>
    </dgm:pt>
    <dgm:pt modelId="{702E1788-8519-45AC-982D-740D0F6FD29E}">
      <dgm:prSet phldrT="[Text]" phldr="0"/>
      <dgm:spPr/>
      <dgm:t>
        <a:bodyPr/>
        <a:lstStyle/>
        <a:p>
          <a:r>
            <a:rPr lang="en-US"/>
            <a:t>Prolonged Academic Pressure</a:t>
          </a:r>
        </a:p>
      </dgm:t>
    </dgm:pt>
    <dgm:pt modelId="{6B5ECBFC-E983-4561-B440-1C08EC437EB7}" type="parTrans" cxnId="{5F643B4B-49BE-4A19-9830-81780E9B2273}">
      <dgm:prSet/>
      <dgm:spPr/>
      <dgm:t>
        <a:bodyPr/>
        <a:lstStyle/>
        <a:p>
          <a:endParaRPr lang="en-US"/>
        </a:p>
      </dgm:t>
    </dgm:pt>
    <dgm:pt modelId="{C65951C5-9E97-46E3-83FE-4BD95E429E0F}" type="sibTrans" cxnId="{5F643B4B-49BE-4A19-9830-81780E9B2273}">
      <dgm:prSet/>
      <dgm:spPr/>
      <dgm:t>
        <a:bodyPr/>
        <a:lstStyle/>
        <a:p>
          <a:endParaRPr lang="en-US"/>
        </a:p>
      </dgm:t>
    </dgm:pt>
    <dgm:pt modelId="{2F21ADCA-BFCF-4A34-A179-21D04983E545}">
      <dgm:prSet phldrT="[Text]" phldr="0"/>
      <dgm:spPr/>
      <dgm:t>
        <a:bodyPr/>
        <a:lstStyle/>
        <a:p>
          <a:r>
            <a:rPr lang="en-US" dirty="0"/>
            <a:t>Lack of Effective Stress-Regulation Strategies</a:t>
          </a:r>
        </a:p>
      </dgm:t>
    </dgm:pt>
    <dgm:pt modelId="{18D2E955-BA3E-425E-89BA-1183397BB890}" type="parTrans" cxnId="{CE0494EB-C6C4-404B-9884-D32596AFEE30}">
      <dgm:prSet/>
      <dgm:spPr/>
      <dgm:t>
        <a:bodyPr/>
        <a:lstStyle/>
        <a:p>
          <a:endParaRPr lang="en-US"/>
        </a:p>
      </dgm:t>
    </dgm:pt>
    <dgm:pt modelId="{F3C19D49-5D97-4D39-A3D3-6B221C7B74A7}" type="sibTrans" cxnId="{CE0494EB-C6C4-404B-9884-D32596AFEE30}">
      <dgm:prSet/>
      <dgm:spPr/>
      <dgm:t>
        <a:bodyPr/>
        <a:lstStyle/>
        <a:p>
          <a:endParaRPr lang="en-US"/>
        </a:p>
      </dgm:t>
    </dgm:pt>
    <dgm:pt modelId="{088F762B-89B5-4042-BA0A-0AF4F1600AA7}">
      <dgm:prSet phldrT="[Text]" phldr="0"/>
      <dgm:spPr/>
      <dgm:t>
        <a:bodyPr/>
        <a:lstStyle/>
        <a:p>
          <a:r>
            <a:rPr lang="en-US"/>
            <a:t>Chronic Academic Stress</a:t>
          </a:r>
        </a:p>
      </dgm:t>
    </dgm:pt>
    <dgm:pt modelId="{7ED33374-C296-46CE-86B9-21361C68843D}" type="parTrans" cxnId="{B6391C14-FA5F-4174-B47F-677FD420F5DB}">
      <dgm:prSet/>
      <dgm:spPr/>
      <dgm:t>
        <a:bodyPr/>
        <a:lstStyle/>
        <a:p>
          <a:endParaRPr lang="en-US"/>
        </a:p>
      </dgm:t>
    </dgm:pt>
    <dgm:pt modelId="{DFB6DF6B-4E8A-49DD-A527-68E83BF2917B}" type="sibTrans" cxnId="{B6391C14-FA5F-4174-B47F-677FD420F5DB}">
      <dgm:prSet/>
      <dgm:spPr/>
      <dgm:t>
        <a:bodyPr/>
        <a:lstStyle/>
        <a:p>
          <a:endParaRPr lang="en-US"/>
        </a:p>
      </dgm:t>
    </dgm:pt>
    <dgm:pt modelId="{7F4B6051-CC1E-4A9B-9347-522635A8EE8B}">
      <dgm:prSet phldrT="[Text]" phldr="0"/>
      <dgm:spPr>
        <a:solidFill>
          <a:schemeClr val="accent1">
            <a:hueOff val="0"/>
            <a:satOff val="0"/>
            <a:lumOff val="0"/>
            <a:alpha val="83000"/>
          </a:schemeClr>
        </a:solidFill>
      </dgm:spPr>
      <dgm:t>
        <a:bodyPr/>
        <a:lstStyle/>
        <a:p>
          <a:r>
            <a:rPr lang="en-US"/>
            <a:t>Burnout &amp; Emotional Exhaustion</a:t>
          </a:r>
        </a:p>
      </dgm:t>
    </dgm:pt>
    <dgm:pt modelId="{148D57FB-8B99-4F1E-BE59-6F871389CDBC}" type="parTrans" cxnId="{EF81BD68-BC8A-43B2-9B94-D562FF26BF3A}">
      <dgm:prSet/>
      <dgm:spPr/>
      <dgm:t>
        <a:bodyPr/>
        <a:lstStyle/>
        <a:p>
          <a:endParaRPr lang="en-US"/>
        </a:p>
      </dgm:t>
    </dgm:pt>
    <dgm:pt modelId="{38729BB5-BD59-4424-B939-F436E16A8D23}" type="sibTrans" cxnId="{EF81BD68-BC8A-43B2-9B94-D562FF26BF3A}">
      <dgm:prSet/>
      <dgm:spPr/>
      <dgm:t>
        <a:bodyPr/>
        <a:lstStyle/>
        <a:p>
          <a:endParaRPr lang="en-US"/>
        </a:p>
      </dgm:t>
    </dgm:pt>
    <dgm:pt modelId="{43710429-A59F-4063-BFC2-22CBF1AB86E1}">
      <dgm:prSet/>
      <dgm:spPr>
        <a:solidFill>
          <a:schemeClr val="accent1">
            <a:hueOff val="0"/>
            <a:satOff val="0"/>
            <a:lumOff val="0"/>
            <a:alpha val="69000"/>
          </a:schemeClr>
        </a:solidFill>
      </dgm:spPr>
      <dgm:t>
        <a:bodyPr/>
        <a:lstStyle/>
        <a:p>
          <a:r>
            <a:rPr lang="en-US"/>
            <a:t>Decline in Academic Performance</a:t>
          </a:r>
        </a:p>
      </dgm:t>
    </dgm:pt>
    <dgm:pt modelId="{D76B5B8E-0079-4553-9F20-1DB955A30556}" type="parTrans" cxnId="{B233327E-25B1-4CDE-B384-2B82ED2CA131}">
      <dgm:prSet/>
      <dgm:spPr/>
      <dgm:t>
        <a:bodyPr/>
        <a:lstStyle/>
        <a:p>
          <a:endParaRPr lang="en-US"/>
        </a:p>
      </dgm:t>
    </dgm:pt>
    <dgm:pt modelId="{A11820C0-F4E6-4694-9AC5-DB478935EEFA}" type="sibTrans" cxnId="{B233327E-25B1-4CDE-B384-2B82ED2CA131}">
      <dgm:prSet/>
      <dgm:spPr/>
      <dgm:t>
        <a:bodyPr/>
        <a:lstStyle/>
        <a:p>
          <a:endParaRPr lang="en-US"/>
        </a:p>
      </dgm:t>
    </dgm:pt>
    <dgm:pt modelId="{6318FC06-B581-4E21-95AB-03867FDB36D0}">
      <dgm:prSet/>
      <dgm:spPr>
        <a:solidFill>
          <a:schemeClr val="accent1">
            <a:hueOff val="0"/>
            <a:satOff val="0"/>
            <a:lumOff val="0"/>
            <a:alpha val="74000"/>
          </a:schemeClr>
        </a:solidFill>
      </dgm:spPr>
      <dgm:t>
        <a:bodyPr/>
        <a:lstStyle/>
        <a:p>
          <a:r>
            <a:rPr lang="en-US"/>
            <a:t>Long-Term Physical &amp; Psychological Impact</a:t>
          </a:r>
        </a:p>
      </dgm:t>
    </dgm:pt>
    <dgm:pt modelId="{3E56F1FA-BE15-4FA1-B10A-15F19375BC52}" type="parTrans" cxnId="{26657D2E-66B9-4C2D-A254-02E9844DBD41}">
      <dgm:prSet/>
      <dgm:spPr/>
      <dgm:t>
        <a:bodyPr/>
        <a:lstStyle/>
        <a:p>
          <a:endParaRPr lang="en-US"/>
        </a:p>
      </dgm:t>
    </dgm:pt>
    <dgm:pt modelId="{F2EED1F6-5383-4604-A81B-EC7290586187}" type="sibTrans" cxnId="{26657D2E-66B9-4C2D-A254-02E9844DBD41}">
      <dgm:prSet/>
      <dgm:spPr/>
      <dgm:t>
        <a:bodyPr/>
        <a:lstStyle/>
        <a:p>
          <a:endParaRPr lang="en-US"/>
        </a:p>
      </dgm:t>
    </dgm:pt>
    <dgm:pt modelId="{683C86E3-AAF2-41B9-87FF-7EF1119FC3DF}" type="pres">
      <dgm:prSet presAssocID="{7D51C7AA-3458-4B4F-8189-7CDF320DBABB}" presName="diagram" presStyleCnt="0">
        <dgm:presLayoutVars>
          <dgm:dir/>
          <dgm:resizeHandles val="exact"/>
        </dgm:presLayoutVars>
      </dgm:prSet>
      <dgm:spPr/>
    </dgm:pt>
    <dgm:pt modelId="{A14CB842-85C3-4392-B38A-B43433B25260}" type="pres">
      <dgm:prSet presAssocID="{3ECCB4A3-6C4D-4E66-8CDA-F84700A57D62}" presName="node" presStyleLbl="node1" presStyleIdx="0" presStyleCnt="7">
        <dgm:presLayoutVars>
          <dgm:bulletEnabled val="1"/>
        </dgm:presLayoutVars>
      </dgm:prSet>
      <dgm:spPr/>
    </dgm:pt>
    <dgm:pt modelId="{E7739C9F-E4F9-4F9D-BE5E-C2A7D7DEA220}" type="pres">
      <dgm:prSet presAssocID="{2A6360AC-9F76-44F1-9DFA-E8CA2D8CA167}" presName="sibTrans" presStyleLbl="sibTrans2D1" presStyleIdx="0" presStyleCnt="6"/>
      <dgm:spPr/>
    </dgm:pt>
    <dgm:pt modelId="{65D0CAE2-6ACD-4D86-B486-8C4E8F03F0F1}" type="pres">
      <dgm:prSet presAssocID="{2A6360AC-9F76-44F1-9DFA-E8CA2D8CA167}" presName="connectorText" presStyleLbl="sibTrans2D1" presStyleIdx="0" presStyleCnt="6"/>
      <dgm:spPr/>
    </dgm:pt>
    <dgm:pt modelId="{4354523A-8ED9-4788-A0B0-F4C5F345721D}" type="pres">
      <dgm:prSet presAssocID="{702E1788-8519-45AC-982D-740D0F6FD29E}" presName="node" presStyleLbl="node1" presStyleIdx="1" presStyleCnt="7">
        <dgm:presLayoutVars>
          <dgm:bulletEnabled val="1"/>
        </dgm:presLayoutVars>
      </dgm:prSet>
      <dgm:spPr/>
    </dgm:pt>
    <dgm:pt modelId="{3B8D69CB-6F82-4FBB-B810-16F4B8C8F75A}" type="pres">
      <dgm:prSet presAssocID="{C65951C5-9E97-46E3-83FE-4BD95E429E0F}" presName="sibTrans" presStyleLbl="sibTrans2D1" presStyleIdx="1" presStyleCnt="6"/>
      <dgm:spPr/>
    </dgm:pt>
    <dgm:pt modelId="{DFDEEF6E-34BA-45C8-95B1-E79D97CC1D32}" type="pres">
      <dgm:prSet presAssocID="{C65951C5-9E97-46E3-83FE-4BD95E429E0F}" presName="connectorText" presStyleLbl="sibTrans2D1" presStyleIdx="1" presStyleCnt="6"/>
      <dgm:spPr/>
    </dgm:pt>
    <dgm:pt modelId="{6453CFED-03EC-427A-867A-60730C787CE0}" type="pres">
      <dgm:prSet presAssocID="{2F21ADCA-BFCF-4A34-A179-21D04983E545}" presName="node" presStyleLbl="node1" presStyleIdx="2" presStyleCnt="7">
        <dgm:presLayoutVars>
          <dgm:bulletEnabled val="1"/>
        </dgm:presLayoutVars>
      </dgm:prSet>
      <dgm:spPr/>
    </dgm:pt>
    <dgm:pt modelId="{EB528E79-02BA-4A75-ADF1-AB8E9E07B309}" type="pres">
      <dgm:prSet presAssocID="{F3C19D49-5D97-4D39-A3D3-6B221C7B74A7}" presName="sibTrans" presStyleLbl="sibTrans2D1" presStyleIdx="2" presStyleCnt="6"/>
      <dgm:spPr/>
    </dgm:pt>
    <dgm:pt modelId="{B80C3092-4DFE-4631-9501-3289E86A3CF2}" type="pres">
      <dgm:prSet presAssocID="{F3C19D49-5D97-4D39-A3D3-6B221C7B74A7}" presName="connectorText" presStyleLbl="sibTrans2D1" presStyleIdx="2" presStyleCnt="6"/>
      <dgm:spPr/>
    </dgm:pt>
    <dgm:pt modelId="{726F779F-E8AA-46C2-8D77-B34D4829245C}" type="pres">
      <dgm:prSet presAssocID="{088F762B-89B5-4042-BA0A-0AF4F1600AA7}" presName="node" presStyleLbl="node1" presStyleIdx="3" presStyleCnt="7">
        <dgm:presLayoutVars>
          <dgm:bulletEnabled val="1"/>
        </dgm:presLayoutVars>
      </dgm:prSet>
      <dgm:spPr/>
    </dgm:pt>
    <dgm:pt modelId="{444E1E9A-68B1-44A2-8AF3-9716CD722687}" type="pres">
      <dgm:prSet presAssocID="{DFB6DF6B-4E8A-49DD-A527-68E83BF2917B}" presName="sibTrans" presStyleLbl="sibTrans2D1" presStyleIdx="3" presStyleCnt="6"/>
      <dgm:spPr/>
    </dgm:pt>
    <dgm:pt modelId="{2EA8231A-947A-4138-8708-D5EFFC6A4A7E}" type="pres">
      <dgm:prSet presAssocID="{DFB6DF6B-4E8A-49DD-A527-68E83BF2917B}" presName="connectorText" presStyleLbl="sibTrans2D1" presStyleIdx="3" presStyleCnt="6"/>
      <dgm:spPr/>
    </dgm:pt>
    <dgm:pt modelId="{EC022180-919A-4D8A-8C63-4E8D6FC46FFB}" type="pres">
      <dgm:prSet presAssocID="{7F4B6051-CC1E-4A9B-9347-522635A8EE8B}" presName="node" presStyleLbl="node1" presStyleIdx="4" presStyleCnt="7">
        <dgm:presLayoutVars>
          <dgm:bulletEnabled val="1"/>
        </dgm:presLayoutVars>
      </dgm:prSet>
      <dgm:spPr/>
    </dgm:pt>
    <dgm:pt modelId="{DBF8A57F-F16C-4800-B109-43B3BC44B1DE}" type="pres">
      <dgm:prSet presAssocID="{38729BB5-BD59-4424-B939-F436E16A8D23}" presName="sibTrans" presStyleLbl="sibTrans2D1" presStyleIdx="4" presStyleCnt="6"/>
      <dgm:spPr/>
    </dgm:pt>
    <dgm:pt modelId="{69DF79E5-64B4-4C8B-9567-77A7D4629B04}" type="pres">
      <dgm:prSet presAssocID="{38729BB5-BD59-4424-B939-F436E16A8D23}" presName="connectorText" presStyleLbl="sibTrans2D1" presStyleIdx="4" presStyleCnt="6"/>
      <dgm:spPr/>
    </dgm:pt>
    <dgm:pt modelId="{44F0A727-9ED7-4AC2-B43D-D90FF2733B74}" type="pres">
      <dgm:prSet presAssocID="{43710429-A59F-4063-BFC2-22CBF1AB86E1}" presName="node" presStyleLbl="node1" presStyleIdx="5" presStyleCnt="7">
        <dgm:presLayoutVars>
          <dgm:bulletEnabled val="1"/>
        </dgm:presLayoutVars>
      </dgm:prSet>
      <dgm:spPr/>
    </dgm:pt>
    <dgm:pt modelId="{C511E089-D681-44D5-8DF5-52CD3C61D852}" type="pres">
      <dgm:prSet presAssocID="{A11820C0-F4E6-4694-9AC5-DB478935EEFA}" presName="sibTrans" presStyleLbl="sibTrans2D1" presStyleIdx="5" presStyleCnt="6"/>
      <dgm:spPr/>
    </dgm:pt>
    <dgm:pt modelId="{28B145CA-9F1F-4AAC-84C9-636A80E95DAC}" type="pres">
      <dgm:prSet presAssocID="{A11820C0-F4E6-4694-9AC5-DB478935EEFA}" presName="connectorText" presStyleLbl="sibTrans2D1" presStyleIdx="5" presStyleCnt="6"/>
      <dgm:spPr/>
    </dgm:pt>
    <dgm:pt modelId="{0C432F57-B99A-4B2E-A6FE-74D5BF6B1D2E}" type="pres">
      <dgm:prSet presAssocID="{6318FC06-B581-4E21-95AB-03867FDB36D0}" presName="node" presStyleLbl="node1" presStyleIdx="6" presStyleCnt="7">
        <dgm:presLayoutVars>
          <dgm:bulletEnabled val="1"/>
        </dgm:presLayoutVars>
      </dgm:prSet>
      <dgm:spPr/>
    </dgm:pt>
  </dgm:ptLst>
  <dgm:cxnLst>
    <dgm:cxn modelId="{A0F70A05-63F5-44A1-B842-A8937D149C5F}" type="presOf" srcId="{DFB6DF6B-4E8A-49DD-A527-68E83BF2917B}" destId="{2EA8231A-947A-4138-8708-D5EFFC6A4A7E}" srcOrd="1" destOrd="0" presId="urn:microsoft.com/office/officeart/2005/8/layout/process5"/>
    <dgm:cxn modelId="{A7A2190A-5F36-4805-9761-C2089D188A8A}" type="presOf" srcId="{702E1788-8519-45AC-982D-740D0F6FD29E}" destId="{4354523A-8ED9-4788-A0B0-F4C5F345721D}" srcOrd="0" destOrd="0" presId="urn:microsoft.com/office/officeart/2005/8/layout/process5"/>
    <dgm:cxn modelId="{3DD2EB0C-D625-4D09-B67B-E42D1C2714E8}" type="presOf" srcId="{C65951C5-9E97-46E3-83FE-4BD95E429E0F}" destId="{3B8D69CB-6F82-4FBB-B810-16F4B8C8F75A}" srcOrd="0" destOrd="0" presId="urn:microsoft.com/office/officeart/2005/8/layout/process5"/>
    <dgm:cxn modelId="{E792A013-50B9-4815-AA98-5FC8630760E5}" type="presOf" srcId="{3ECCB4A3-6C4D-4E66-8CDA-F84700A57D62}" destId="{A14CB842-85C3-4392-B38A-B43433B25260}" srcOrd="0" destOrd="0" presId="urn:microsoft.com/office/officeart/2005/8/layout/process5"/>
    <dgm:cxn modelId="{2A2CAE13-C0B8-401E-944A-C4E4DB1DB11D}" type="presOf" srcId="{2A6360AC-9F76-44F1-9DFA-E8CA2D8CA167}" destId="{E7739C9F-E4F9-4F9D-BE5E-C2A7D7DEA220}" srcOrd="0" destOrd="0" presId="urn:microsoft.com/office/officeart/2005/8/layout/process5"/>
    <dgm:cxn modelId="{B6391C14-FA5F-4174-B47F-677FD420F5DB}" srcId="{7D51C7AA-3458-4B4F-8189-7CDF320DBABB}" destId="{088F762B-89B5-4042-BA0A-0AF4F1600AA7}" srcOrd="3" destOrd="0" parTransId="{7ED33374-C296-46CE-86B9-21361C68843D}" sibTransId="{DFB6DF6B-4E8A-49DD-A527-68E83BF2917B}"/>
    <dgm:cxn modelId="{26657D2E-66B9-4C2D-A254-02E9844DBD41}" srcId="{7D51C7AA-3458-4B4F-8189-7CDF320DBABB}" destId="{6318FC06-B581-4E21-95AB-03867FDB36D0}" srcOrd="6" destOrd="0" parTransId="{3E56F1FA-BE15-4FA1-B10A-15F19375BC52}" sibTransId="{F2EED1F6-5383-4604-A81B-EC7290586187}"/>
    <dgm:cxn modelId="{67727E2E-EFA2-4582-847B-26824E300A85}" type="presOf" srcId="{43710429-A59F-4063-BFC2-22CBF1AB86E1}" destId="{44F0A727-9ED7-4AC2-B43D-D90FF2733B74}" srcOrd="0" destOrd="0" presId="urn:microsoft.com/office/officeart/2005/8/layout/process5"/>
    <dgm:cxn modelId="{A8C00C3D-051E-453A-81F8-2873DD6F96B3}" type="presOf" srcId="{C65951C5-9E97-46E3-83FE-4BD95E429E0F}" destId="{DFDEEF6E-34BA-45C8-95B1-E79D97CC1D32}" srcOrd="1" destOrd="0" presId="urn:microsoft.com/office/officeart/2005/8/layout/process5"/>
    <dgm:cxn modelId="{EF81BD68-BC8A-43B2-9B94-D562FF26BF3A}" srcId="{7D51C7AA-3458-4B4F-8189-7CDF320DBABB}" destId="{7F4B6051-CC1E-4A9B-9347-522635A8EE8B}" srcOrd="4" destOrd="0" parTransId="{148D57FB-8B99-4F1E-BE59-6F871389CDBC}" sibTransId="{38729BB5-BD59-4424-B939-F436E16A8D23}"/>
    <dgm:cxn modelId="{5F643B4B-49BE-4A19-9830-81780E9B2273}" srcId="{7D51C7AA-3458-4B4F-8189-7CDF320DBABB}" destId="{702E1788-8519-45AC-982D-740D0F6FD29E}" srcOrd="1" destOrd="0" parTransId="{6B5ECBFC-E983-4561-B440-1C08EC437EB7}" sibTransId="{C65951C5-9E97-46E3-83FE-4BD95E429E0F}"/>
    <dgm:cxn modelId="{338CE279-C1AD-40F2-A69F-DD8A482FF7E4}" type="presOf" srcId="{F3C19D49-5D97-4D39-A3D3-6B221C7B74A7}" destId="{EB528E79-02BA-4A75-ADF1-AB8E9E07B309}" srcOrd="0" destOrd="0" presId="urn:microsoft.com/office/officeart/2005/8/layout/process5"/>
    <dgm:cxn modelId="{BCF9BA5A-3A5F-4413-B2E2-F21055013765}" type="presOf" srcId="{2A6360AC-9F76-44F1-9DFA-E8CA2D8CA167}" destId="{65D0CAE2-6ACD-4D86-B486-8C4E8F03F0F1}" srcOrd="1" destOrd="0" presId="urn:microsoft.com/office/officeart/2005/8/layout/process5"/>
    <dgm:cxn modelId="{B233327E-25B1-4CDE-B384-2B82ED2CA131}" srcId="{7D51C7AA-3458-4B4F-8189-7CDF320DBABB}" destId="{43710429-A59F-4063-BFC2-22CBF1AB86E1}" srcOrd="5" destOrd="0" parTransId="{D76B5B8E-0079-4553-9F20-1DB955A30556}" sibTransId="{A11820C0-F4E6-4694-9AC5-DB478935EEFA}"/>
    <dgm:cxn modelId="{21B3908B-E6F9-4DC1-87A2-29F83D1C1DC4}" type="presOf" srcId="{DFB6DF6B-4E8A-49DD-A527-68E83BF2917B}" destId="{444E1E9A-68B1-44A2-8AF3-9716CD722687}" srcOrd="0" destOrd="0" presId="urn:microsoft.com/office/officeart/2005/8/layout/process5"/>
    <dgm:cxn modelId="{A56819A2-30DA-4438-BFC4-3C3A8042B9F0}" type="presOf" srcId="{6318FC06-B581-4E21-95AB-03867FDB36D0}" destId="{0C432F57-B99A-4B2E-A6FE-74D5BF6B1D2E}" srcOrd="0" destOrd="0" presId="urn:microsoft.com/office/officeart/2005/8/layout/process5"/>
    <dgm:cxn modelId="{AB110AA5-F0D0-4855-889F-F30937B3D77B}" type="presOf" srcId="{A11820C0-F4E6-4694-9AC5-DB478935EEFA}" destId="{C511E089-D681-44D5-8DF5-52CD3C61D852}" srcOrd="0" destOrd="0" presId="urn:microsoft.com/office/officeart/2005/8/layout/process5"/>
    <dgm:cxn modelId="{D6BB27B0-C5FF-462F-B8D3-F501AC062CBA}" type="presOf" srcId="{7D51C7AA-3458-4B4F-8189-7CDF320DBABB}" destId="{683C86E3-AAF2-41B9-87FF-7EF1119FC3DF}" srcOrd="0" destOrd="0" presId="urn:microsoft.com/office/officeart/2005/8/layout/process5"/>
    <dgm:cxn modelId="{F1C5DBBF-377D-46F0-B576-2927AD2AFB93}" type="presOf" srcId="{F3C19D49-5D97-4D39-A3D3-6B221C7B74A7}" destId="{B80C3092-4DFE-4631-9501-3289E86A3CF2}" srcOrd="1" destOrd="0" presId="urn:microsoft.com/office/officeart/2005/8/layout/process5"/>
    <dgm:cxn modelId="{C0FC99CB-CFA0-4B2E-B81E-DC4A3425B7D3}" type="presOf" srcId="{38729BB5-BD59-4424-B939-F436E16A8D23}" destId="{69DF79E5-64B4-4C8B-9567-77A7D4629B04}" srcOrd="1" destOrd="0" presId="urn:microsoft.com/office/officeart/2005/8/layout/process5"/>
    <dgm:cxn modelId="{49C727D3-D7B3-4994-AB09-917360B84514}" type="presOf" srcId="{A11820C0-F4E6-4694-9AC5-DB478935EEFA}" destId="{28B145CA-9F1F-4AAC-84C9-636A80E95DAC}" srcOrd="1" destOrd="0" presId="urn:microsoft.com/office/officeart/2005/8/layout/process5"/>
    <dgm:cxn modelId="{6AC701D6-AB5E-4D6B-B664-947C95A834D2}" type="presOf" srcId="{38729BB5-BD59-4424-B939-F436E16A8D23}" destId="{DBF8A57F-F16C-4800-B109-43B3BC44B1DE}" srcOrd="0" destOrd="0" presId="urn:microsoft.com/office/officeart/2005/8/layout/process5"/>
    <dgm:cxn modelId="{37556CDA-7E5B-44DC-9AE3-48628D79E8B3}" srcId="{7D51C7AA-3458-4B4F-8189-7CDF320DBABB}" destId="{3ECCB4A3-6C4D-4E66-8CDA-F84700A57D62}" srcOrd="0" destOrd="0" parTransId="{A4806A84-B1B6-4FA5-B8F5-D89F693B1860}" sibTransId="{2A6360AC-9F76-44F1-9DFA-E8CA2D8CA167}"/>
    <dgm:cxn modelId="{FFCE78E0-1E32-45D9-B3BB-1F3456BD0EC1}" type="presOf" srcId="{2F21ADCA-BFCF-4A34-A179-21D04983E545}" destId="{6453CFED-03EC-427A-867A-60730C787CE0}" srcOrd="0" destOrd="0" presId="urn:microsoft.com/office/officeart/2005/8/layout/process5"/>
    <dgm:cxn modelId="{CE0494EB-C6C4-404B-9884-D32596AFEE30}" srcId="{7D51C7AA-3458-4B4F-8189-7CDF320DBABB}" destId="{2F21ADCA-BFCF-4A34-A179-21D04983E545}" srcOrd="2" destOrd="0" parTransId="{18D2E955-BA3E-425E-89BA-1183397BB890}" sibTransId="{F3C19D49-5D97-4D39-A3D3-6B221C7B74A7}"/>
    <dgm:cxn modelId="{E090D5ED-5C49-4644-BF9E-B03F7C71377C}" type="presOf" srcId="{088F762B-89B5-4042-BA0A-0AF4F1600AA7}" destId="{726F779F-E8AA-46C2-8D77-B34D4829245C}" srcOrd="0" destOrd="0" presId="urn:microsoft.com/office/officeart/2005/8/layout/process5"/>
    <dgm:cxn modelId="{EE3C10FD-9B22-445A-9733-B16C7C8E5FFA}" type="presOf" srcId="{7F4B6051-CC1E-4A9B-9347-522635A8EE8B}" destId="{EC022180-919A-4D8A-8C63-4E8D6FC46FFB}" srcOrd="0" destOrd="0" presId="urn:microsoft.com/office/officeart/2005/8/layout/process5"/>
    <dgm:cxn modelId="{4E0FE24B-3D26-47F6-AAED-BA5537581595}" type="presParOf" srcId="{683C86E3-AAF2-41B9-87FF-7EF1119FC3DF}" destId="{A14CB842-85C3-4392-B38A-B43433B25260}" srcOrd="0" destOrd="0" presId="urn:microsoft.com/office/officeart/2005/8/layout/process5"/>
    <dgm:cxn modelId="{1E4D01C1-231C-495A-A126-66190A9346B2}" type="presParOf" srcId="{683C86E3-AAF2-41B9-87FF-7EF1119FC3DF}" destId="{E7739C9F-E4F9-4F9D-BE5E-C2A7D7DEA220}" srcOrd="1" destOrd="0" presId="urn:microsoft.com/office/officeart/2005/8/layout/process5"/>
    <dgm:cxn modelId="{445C01FA-6DCE-4F30-ACDA-37483BA42A1F}" type="presParOf" srcId="{E7739C9F-E4F9-4F9D-BE5E-C2A7D7DEA220}" destId="{65D0CAE2-6ACD-4D86-B486-8C4E8F03F0F1}" srcOrd="0" destOrd="0" presId="urn:microsoft.com/office/officeart/2005/8/layout/process5"/>
    <dgm:cxn modelId="{DA87301D-0954-49F0-BEAD-4FCA2C86E387}" type="presParOf" srcId="{683C86E3-AAF2-41B9-87FF-7EF1119FC3DF}" destId="{4354523A-8ED9-4788-A0B0-F4C5F345721D}" srcOrd="2" destOrd="0" presId="urn:microsoft.com/office/officeart/2005/8/layout/process5"/>
    <dgm:cxn modelId="{80777FD4-E002-40CB-A61C-321CAA5F2F09}" type="presParOf" srcId="{683C86E3-AAF2-41B9-87FF-7EF1119FC3DF}" destId="{3B8D69CB-6F82-4FBB-B810-16F4B8C8F75A}" srcOrd="3" destOrd="0" presId="urn:microsoft.com/office/officeart/2005/8/layout/process5"/>
    <dgm:cxn modelId="{3E565A49-F1DF-4DAE-99EB-C99CA9339A63}" type="presParOf" srcId="{3B8D69CB-6F82-4FBB-B810-16F4B8C8F75A}" destId="{DFDEEF6E-34BA-45C8-95B1-E79D97CC1D32}" srcOrd="0" destOrd="0" presId="urn:microsoft.com/office/officeart/2005/8/layout/process5"/>
    <dgm:cxn modelId="{B6C555F4-0C23-4EC9-A09C-38036B0ADFC4}" type="presParOf" srcId="{683C86E3-AAF2-41B9-87FF-7EF1119FC3DF}" destId="{6453CFED-03EC-427A-867A-60730C787CE0}" srcOrd="4" destOrd="0" presId="urn:microsoft.com/office/officeart/2005/8/layout/process5"/>
    <dgm:cxn modelId="{271D36FE-C4FA-4DD2-BA42-EAC1DEACD0B4}" type="presParOf" srcId="{683C86E3-AAF2-41B9-87FF-7EF1119FC3DF}" destId="{EB528E79-02BA-4A75-ADF1-AB8E9E07B309}" srcOrd="5" destOrd="0" presId="urn:microsoft.com/office/officeart/2005/8/layout/process5"/>
    <dgm:cxn modelId="{F2567C0D-F5A3-4D35-820D-9237C7905DE9}" type="presParOf" srcId="{EB528E79-02BA-4A75-ADF1-AB8E9E07B309}" destId="{B80C3092-4DFE-4631-9501-3289E86A3CF2}" srcOrd="0" destOrd="0" presId="urn:microsoft.com/office/officeart/2005/8/layout/process5"/>
    <dgm:cxn modelId="{B4DE7EE1-4C30-4694-B387-162DB090A8DD}" type="presParOf" srcId="{683C86E3-AAF2-41B9-87FF-7EF1119FC3DF}" destId="{726F779F-E8AA-46C2-8D77-B34D4829245C}" srcOrd="6" destOrd="0" presId="urn:microsoft.com/office/officeart/2005/8/layout/process5"/>
    <dgm:cxn modelId="{C648F3AA-9D85-469F-85DB-98C2B5A85F9A}" type="presParOf" srcId="{683C86E3-AAF2-41B9-87FF-7EF1119FC3DF}" destId="{444E1E9A-68B1-44A2-8AF3-9716CD722687}" srcOrd="7" destOrd="0" presId="urn:microsoft.com/office/officeart/2005/8/layout/process5"/>
    <dgm:cxn modelId="{4A445298-5530-4755-8526-D12770CAEED1}" type="presParOf" srcId="{444E1E9A-68B1-44A2-8AF3-9716CD722687}" destId="{2EA8231A-947A-4138-8708-D5EFFC6A4A7E}" srcOrd="0" destOrd="0" presId="urn:microsoft.com/office/officeart/2005/8/layout/process5"/>
    <dgm:cxn modelId="{42235FCD-AB6E-4EAB-AB12-A334CE10F292}" type="presParOf" srcId="{683C86E3-AAF2-41B9-87FF-7EF1119FC3DF}" destId="{EC022180-919A-4D8A-8C63-4E8D6FC46FFB}" srcOrd="8" destOrd="0" presId="urn:microsoft.com/office/officeart/2005/8/layout/process5"/>
    <dgm:cxn modelId="{AAD6CE8D-9844-4602-9115-B4C14188D34E}" type="presParOf" srcId="{683C86E3-AAF2-41B9-87FF-7EF1119FC3DF}" destId="{DBF8A57F-F16C-4800-B109-43B3BC44B1DE}" srcOrd="9" destOrd="0" presId="urn:microsoft.com/office/officeart/2005/8/layout/process5"/>
    <dgm:cxn modelId="{703DBF2E-B870-435E-8832-FAF59E469BA3}" type="presParOf" srcId="{DBF8A57F-F16C-4800-B109-43B3BC44B1DE}" destId="{69DF79E5-64B4-4C8B-9567-77A7D4629B04}" srcOrd="0" destOrd="0" presId="urn:microsoft.com/office/officeart/2005/8/layout/process5"/>
    <dgm:cxn modelId="{16BB275E-6259-4EBF-8B04-28470AD08DE9}" type="presParOf" srcId="{683C86E3-AAF2-41B9-87FF-7EF1119FC3DF}" destId="{44F0A727-9ED7-4AC2-B43D-D90FF2733B74}" srcOrd="10" destOrd="0" presId="urn:microsoft.com/office/officeart/2005/8/layout/process5"/>
    <dgm:cxn modelId="{3C5015FB-BE66-4C10-8ABB-AA53C364804F}" type="presParOf" srcId="{683C86E3-AAF2-41B9-87FF-7EF1119FC3DF}" destId="{C511E089-D681-44D5-8DF5-52CD3C61D852}" srcOrd="11" destOrd="0" presId="urn:microsoft.com/office/officeart/2005/8/layout/process5"/>
    <dgm:cxn modelId="{6384A90C-016E-442D-A730-7AEA95705783}" type="presParOf" srcId="{C511E089-D681-44D5-8DF5-52CD3C61D852}" destId="{28B145CA-9F1F-4AAC-84C9-636A80E95DAC}" srcOrd="0" destOrd="0" presId="urn:microsoft.com/office/officeart/2005/8/layout/process5"/>
    <dgm:cxn modelId="{CDC91EBD-E851-463D-8786-B1F618FCF8A5}" type="presParOf" srcId="{683C86E3-AAF2-41B9-87FF-7EF1119FC3DF}" destId="{0C432F57-B99A-4B2E-A6FE-74D5BF6B1D2E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CB842-85C3-4392-B38A-B43433B25260}">
      <dsp:nvSpPr>
        <dsp:cNvPr id="0" name=""/>
        <dsp:cNvSpPr/>
      </dsp:nvSpPr>
      <dsp:spPr>
        <a:xfrm>
          <a:off x="7657" y="692289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Increasing Academic Demands</a:t>
          </a:r>
        </a:p>
      </dsp:txBody>
      <dsp:txXfrm>
        <a:off x="66495" y="751127"/>
        <a:ext cx="3230452" cy="1891201"/>
      </dsp:txXfrm>
    </dsp:sp>
    <dsp:sp modelId="{E7739C9F-E4F9-4F9D-BE5E-C2A7D7DEA220}">
      <dsp:nvSpPr>
        <dsp:cNvPr id="0" name=""/>
        <dsp:cNvSpPr/>
      </dsp:nvSpPr>
      <dsp:spPr>
        <a:xfrm>
          <a:off x="3650421" y="1281559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650421" y="1447626"/>
        <a:ext cx="496862" cy="498201"/>
      </dsp:txXfrm>
    </dsp:sp>
    <dsp:sp modelId="{4354523A-8ED9-4788-A0B0-F4C5F345721D}">
      <dsp:nvSpPr>
        <dsp:cNvPr id="0" name=""/>
        <dsp:cNvSpPr/>
      </dsp:nvSpPr>
      <dsp:spPr>
        <a:xfrm>
          <a:off x="4695037" y="692289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Prolonged Academic Pressure</a:t>
          </a:r>
        </a:p>
      </dsp:txBody>
      <dsp:txXfrm>
        <a:off x="4753875" y="751127"/>
        <a:ext cx="3230452" cy="1891201"/>
      </dsp:txXfrm>
    </dsp:sp>
    <dsp:sp modelId="{3B8D69CB-6F82-4FBB-B810-16F4B8C8F75A}">
      <dsp:nvSpPr>
        <dsp:cNvPr id="0" name=""/>
        <dsp:cNvSpPr/>
      </dsp:nvSpPr>
      <dsp:spPr>
        <a:xfrm>
          <a:off x="8337801" y="1281559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75022"/>
            <a:satOff val="-1385"/>
            <a:lumOff val="64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37801" y="1447626"/>
        <a:ext cx="496862" cy="498201"/>
      </dsp:txXfrm>
    </dsp:sp>
    <dsp:sp modelId="{6453CFED-03EC-427A-867A-60730C787CE0}">
      <dsp:nvSpPr>
        <dsp:cNvPr id="0" name=""/>
        <dsp:cNvSpPr/>
      </dsp:nvSpPr>
      <dsp:spPr>
        <a:xfrm>
          <a:off x="9382417" y="692289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Lack of Effective Stress-Regulation Strategies</a:t>
          </a:r>
        </a:p>
      </dsp:txBody>
      <dsp:txXfrm>
        <a:off x="9441255" y="751127"/>
        <a:ext cx="3230452" cy="1891201"/>
      </dsp:txXfrm>
    </dsp:sp>
    <dsp:sp modelId="{EB528E79-02BA-4A75-ADF1-AB8E9E07B309}">
      <dsp:nvSpPr>
        <dsp:cNvPr id="0" name=""/>
        <dsp:cNvSpPr/>
      </dsp:nvSpPr>
      <dsp:spPr>
        <a:xfrm>
          <a:off x="13025181" y="1281559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150045"/>
            <a:satOff val="-2771"/>
            <a:lumOff val="128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13025181" y="1447626"/>
        <a:ext cx="496862" cy="498201"/>
      </dsp:txXfrm>
    </dsp:sp>
    <dsp:sp modelId="{726F779F-E8AA-46C2-8D77-B34D4829245C}">
      <dsp:nvSpPr>
        <dsp:cNvPr id="0" name=""/>
        <dsp:cNvSpPr/>
      </dsp:nvSpPr>
      <dsp:spPr>
        <a:xfrm>
          <a:off x="14069797" y="692289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Chronic Academic Stress</a:t>
          </a:r>
        </a:p>
      </dsp:txBody>
      <dsp:txXfrm>
        <a:off x="14128635" y="751127"/>
        <a:ext cx="3230452" cy="1891201"/>
      </dsp:txXfrm>
    </dsp:sp>
    <dsp:sp modelId="{444E1E9A-68B1-44A2-8AF3-9716CD722687}">
      <dsp:nvSpPr>
        <dsp:cNvPr id="0" name=""/>
        <dsp:cNvSpPr/>
      </dsp:nvSpPr>
      <dsp:spPr>
        <a:xfrm rot="5400000">
          <a:off x="15388960" y="2935535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225067"/>
            <a:satOff val="-4156"/>
            <a:lumOff val="192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-5400000">
        <a:off x="15494762" y="2995801"/>
        <a:ext cx="498201" cy="496862"/>
      </dsp:txXfrm>
    </dsp:sp>
    <dsp:sp modelId="{EC022180-919A-4D8A-8C63-4E8D6FC46FFB}">
      <dsp:nvSpPr>
        <dsp:cNvPr id="0" name=""/>
        <dsp:cNvSpPr/>
      </dsp:nvSpPr>
      <dsp:spPr>
        <a:xfrm>
          <a:off x="14069797" y="4040417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 val="83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Burnout &amp; Emotional Exhaustion</a:t>
          </a:r>
        </a:p>
      </dsp:txBody>
      <dsp:txXfrm>
        <a:off x="14128635" y="4099255"/>
        <a:ext cx="3230452" cy="1891201"/>
      </dsp:txXfrm>
    </dsp:sp>
    <dsp:sp modelId="{DBF8A57F-F16C-4800-B109-43B3BC44B1DE}">
      <dsp:nvSpPr>
        <dsp:cNvPr id="0" name=""/>
        <dsp:cNvSpPr/>
      </dsp:nvSpPr>
      <dsp:spPr>
        <a:xfrm rot="10800000">
          <a:off x="13065359" y="4629688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00089"/>
            <a:satOff val="-5542"/>
            <a:lumOff val="257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13278300" y="4795755"/>
        <a:ext cx="496862" cy="498201"/>
      </dsp:txXfrm>
    </dsp:sp>
    <dsp:sp modelId="{44F0A727-9ED7-4AC2-B43D-D90FF2733B74}">
      <dsp:nvSpPr>
        <dsp:cNvPr id="0" name=""/>
        <dsp:cNvSpPr/>
      </dsp:nvSpPr>
      <dsp:spPr>
        <a:xfrm>
          <a:off x="9382417" y="4040417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 val="69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Decline in Academic Performance</a:t>
          </a:r>
        </a:p>
      </dsp:txBody>
      <dsp:txXfrm>
        <a:off x="9441255" y="4099255"/>
        <a:ext cx="3230452" cy="1891201"/>
      </dsp:txXfrm>
    </dsp:sp>
    <dsp:sp modelId="{C511E089-D681-44D5-8DF5-52CD3C61D852}">
      <dsp:nvSpPr>
        <dsp:cNvPr id="0" name=""/>
        <dsp:cNvSpPr/>
      </dsp:nvSpPr>
      <dsp:spPr>
        <a:xfrm rot="10800000">
          <a:off x="8377979" y="4629688"/>
          <a:ext cx="709803" cy="8303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shade val="90000"/>
            <a:hueOff val="375112"/>
            <a:satOff val="-6927"/>
            <a:lumOff val="3212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 rot="10800000">
        <a:off x="8590920" y="4795755"/>
        <a:ext cx="496862" cy="498201"/>
      </dsp:txXfrm>
    </dsp:sp>
    <dsp:sp modelId="{0C432F57-B99A-4B2E-A6FE-74D5BF6B1D2E}">
      <dsp:nvSpPr>
        <dsp:cNvPr id="0" name=""/>
        <dsp:cNvSpPr/>
      </dsp:nvSpPr>
      <dsp:spPr>
        <a:xfrm>
          <a:off x="4695037" y="4040417"/>
          <a:ext cx="3348128" cy="20088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 val="7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Long-Term Physical &amp; Psychological Impact</a:t>
          </a:r>
        </a:p>
      </dsp:txBody>
      <dsp:txXfrm>
        <a:off x="4753875" y="4099255"/>
        <a:ext cx="3230452" cy="1891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B8D1B-D542-4AAE-8C6D-E4F08A664C6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98B3A-9CBA-49BA-85A3-AF5037540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7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CCE5-5276-4F07-9C3E-D82E77A84B88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24BA-01A0-44F2-96DB-16F59FCDA05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40F5A-87E6-430B-AA32-3423227CB607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E37B2-5841-46BF-97C9-C85DC7DFEFF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3D569-F7DF-4F02-AF94-B171E4F41EAD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BA676-CA16-4DFF-898A-7CA9CE53549E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32D2-4A0B-4094-86F3-1F19E706AF06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C6E9-AE33-40FF-9DDD-D03C0D1C0A26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57DCA-2782-45DD-8223-58908EC32309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0F85E-9C27-40D7-8C61-717700BAD77D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EFED0-0E8F-4121-A0AA-E7F93D1D2F0F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94077-3F2D-43F8-9E0E-13E57229916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A5BCD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756206" y="-514350"/>
            <a:ext cx="6163724" cy="3086100"/>
            <a:chOff x="0" y="0"/>
            <a:chExt cx="162336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CF1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582136" y="8362283"/>
            <a:ext cx="7059741" cy="3086100"/>
            <a:chOff x="0" y="0"/>
            <a:chExt cx="1859356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9356" cy="812800"/>
            </a:xfrm>
            <a:custGeom>
              <a:avLst/>
              <a:gdLst/>
              <a:ahLst/>
              <a:cxnLst/>
              <a:rect l="l" t="t" r="r" b="b"/>
              <a:pathLst>
                <a:path w="1859356" h="812800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0"/>
            <a:ext cx="6853714" cy="10287000"/>
          </a:xfrm>
          <a:custGeom>
            <a:avLst/>
            <a:gdLst/>
            <a:ahLst/>
            <a:cxnLst/>
            <a:rect l="l" t="t" r="r" b="b"/>
            <a:pathLst>
              <a:path w="6853714" h="10287000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710997" y="2472486"/>
            <a:ext cx="9662767" cy="153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79"/>
              </a:lnSpc>
            </a:pPr>
            <a:r>
              <a:rPr lang="en-US" sz="10508" b="1">
                <a:solidFill>
                  <a:srgbClr val="5777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MIND+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9083" y="4212847"/>
            <a:ext cx="11006596" cy="298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4"/>
              </a:lnSpc>
            </a:pPr>
            <a:r>
              <a:rPr lang="en-US" sz="4174" b="1">
                <a:solidFill>
                  <a:srgbClr val="27354C"/>
                </a:solidFill>
                <a:latin typeface="Futura Bold"/>
                <a:ea typeface="Futura Bold"/>
                <a:cs typeface="Futura Bold"/>
                <a:sym typeface="Futura Bold"/>
              </a:rPr>
              <a:t>SELF-MONITORING AND ANONYMOUS </a:t>
            </a:r>
          </a:p>
          <a:p>
            <a:pPr algn="ctr">
              <a:lnSpc>
                <a:spcPts val="5844"/>
              </a:lnSpc>
            </a:pPr>
            <a:r>
              <a:rPr lang="en-US" sz="4174" b="1">
                <a:solidFill>
                  <a:srgbClr val="27354C"/>
                </a:solidFill>
                <a:latin typeface="Futura Bold"/>
                <a:ea typeface="Futura Bold"/>
                <a:cs typeface="Futura Bold"/>
                <a:sym typeface="Futura Bold"/>
              </a:rPr>
              <a:t>COUNSELLING BASED DIGITAL COMPANION FOR </a:t>
            </a:r>
          </a:p>
          <a:p>
            <a:pPr marL="0" lvl="0" indent="0" algn="ctr">
              <a:lnSpc>
                <a:spcPts val="5844"/>
              </a:lnSpc>
            </a:pPr>
            <a:r>
              <a:rPr lang="en-US" sz="4174" b="1">
                <a:solidFill>
                  <a:srgbClr val="27354C"/>
                </a:solidFill>
                <a:latin typeface="Futura Bold"/>
                <a:ea typeface="Futura Bold"/>
                <a:cs typeface="Futura Bold"/>
                <a:sym typeface="Futura Bold"/>
              </a:rPr>
              <a:t>ACADEMIC STRESS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04281" y="8872110"/>
            <a:ext cx="4460189" cy="639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677"/>
              </a:lnSpc>
              <a:spcBef>
                <a:spcPct val="0"/>
              </a:spcBef>
            </a:pPr>
            <a:r>
              <a:rPr lang="en-US" sz="3341">
                <a:solidFill>
                  <a:srgbClr val="27354C"/>
                </a:solidFill>
                <a:latin typeface="Futura"/>
                <a:ea typeface="Futura"/>
                <a:cs typeface="Futura"/>
                <a:sym typeface="Futura"/>
              </a:rPr>
              <a:t>25-26J-480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82136" y="8362283"/>
            <a:ext cx="7059741" cy="3086100"/>
            <a:chOff x="0" y="0"/>
            <a:chExt cx="1859356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9356" cy="812800"/>
            </a:xfrm>
            <a:custGeom>
              <a:avLst/>
              <a:gdLst/>
              <a:ahLst/>
              <a:cxnLst/>
              <a:rect l="l" t="t" r="r" b="b"/>
              <a:pathLst>
                <a:path w="1859356" h="812800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11927" y="6163477"/>
            <a:ext cx="2353720" cy="2353720"/>
            <a:chOff x="0" y="0"/>
            <a:chExt cx="483135" cy="4831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2"/>
              <a:stretch>
                <a:fillRect b="-333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22354" y="6163477"/>
            <a:ext cx="2353720" cy="2353720"/>
            <a:chOff x="0" y="0"/>
            <a:chExt cx="483135" cy="4831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32441" y="6163477"/>
            <a:ext cx="2353720" cy="2353720"/>
            <a:chOff x="0" y="0"/>
            <a:chExt cx="483135" cy="4831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72124" y="6163477"/>
            <a:ext cx="2353720" cy="2353720"/>
            <a:chOff x="0" y="0"/>
            <a:chExt cx="483135" cy="4831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5"/>
              <a:stretch>
                <a:fillRect b="-286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4177438" y="-895350"/>
            <a:ext cx="6163724" cy="3086100"/>
            <a:chOff x="0" y="0"/>
            <a:chExt cx="1623368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CF1F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00929" y="2305643"/>
            <a:ext cx="2353720" cy="2353720"/>
            <a:chOff x="0" y="0"/>
            <a:chExt cx="483135" cy="4831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87379" y="2331178"/>
            <a:ext cx="2353720" cy="2353720"/>
            <a:chOff x="0" y="0"/>
            <a:chExt cx="483135" cy="4831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8"/>
              <a:stretch>
                <a:fillRect l="-16038" t="-12432" r="-18493" b="-140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03425" y="2331178"/>
            <a:ext cx="2353720" cy="2353720"/>
            <a:chOff x="0" y="0"/>
            <a:chExt cx="483135" cy="4831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3135" cy="483135"/>
            </a:xfrm>
            <a:custGeom>
              <a:avLst/>
              <a:gdLst/>
              <a:ahLst/>
              <a:cxnLst/>
              <a:rect l="l" t="t" r="r" b="b"/>
              <a:pathLst>
                <a:path w="483135" h="483135">
                  <a:moveTo>
                    <a:pt x="241567" y="0"/>
                  </a:moveTo>
                  <a:cubicBezTo>
                    <a:pt x="108153" y="0"/>
                    <a:pt x="0" y="108153"/>
                    <a:pt x="0" y="241567"/>
                  </a:cubicBezTo>
                  <a:cubicBezTo>
                    <a:pt x="0" y="374981"/>
                    <a:pt x="108153" y="483135"/>
                    <a:pt x="241567" y="483135"/>
                  </a:cubicBezTo>
                  <a:cubicBezTo>
                    <a:pt x="374981" y="483135"/>
                    <a:pt x="483135" y="374981"/>
                    <a:pt x="483135" y="241567"/>
                  </a:cubicBezTo>
                  <a:cubicBezTo>
                    <a:pt x="483135" y="108153"/>
                    <a:pt x="374981" y="0"/>
                    <a:pt x="241567" y="0"/>
                  </a:cubicBezTo>
                  <a:close/>
                </a:path>
              </a:pathLst>
            </a:custGeom>
            <a:blipFill>
              <a:blip r:embed="rId9"/>
              <a:stretch>
                <a:fillRect t="-7650" b="-423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164806" y="1010454"/>
            <a:ext cx="7958387" cy="113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</a:pPr>
            <a:r>
              <a:rPr lang="en-US" sz="6681" b="1">
                <a:solidFill>
                  <a:srgbClr val="5777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43783" y="190500"/>
            <a:ext cx="5871786" cy="70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4"/>
              </a:lnSpc>
            </a:pPr>
            <a:r>
              <a:rPr lang="en-US" sz="4139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MEET OUR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02205" y="8626090"/>
            <a:ext cx="3299098" cy="72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 err="1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Raajapaksha</a:t>
            </a: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 R.N.D.K.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IT22315632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97477" y="8626090"/>
            <a:ext cx="3299098" cy="72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Jayasooriya J.K.B.A.P.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IT22358684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86698" y="8626090"/>
            <a:ext cx="3299098" cy="72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Hettiarachchi E.I.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IT22004390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2087" y="8626090"/>
            <a:ext cx="3299098" cy="72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Gunathilaka M.A.S.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 dirty="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IT22341136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56067" y="4793790"/>
            <a:ext cx="3771808" cy="74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</a:pPr>
            <a:r>
              <a:rPr lang="en-US" sz="2092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Prof. Samantha Thelijjagoda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Supervisor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65273" y="4768255"/>
            <a:ext cx="3299098" cy="147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</a:pPr>
            <a:r>
              <a:rPr lang="en-US" sz="205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Ms. </a:t>
            </a:r>
            <a:r>
              <a:rPr lang="en-US" sz="2050" err="1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Sachini</a:t>
            </a:r>
            <a:r>
              <a:rPr lang="en-US" sz="205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50" err="1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Pathiraja</a:t>
            </a:r>
            <a:r>
              <a:rPr lang="en-US" sz="205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 (Clinical Psychologist)​</a:t>
            </a:r>
          </a:p>
          <a:p>
            <a:pPr algn="ctr">
              <a:lnSpc>
                <a:spcPts val="2929"/>
              </a:lnSpc>
            </a:pPr>
            <a:r>
              <a:rPr lang="en-US" sz="2050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External Supervisor​</a:t>
            </a:r>
            <a:endParaRPr lang="en-US" sz="2050">
              <a:solidFill>
                <a:srgbClr val="27354C"/>
              </a:solidFill>
              <a:latin typeface="Poppins"/>
              <a:ea typeface="Poppins"/>
              <a:cs typeface="Poppins"/>
            </a:endParaRPr>
          </a:p>
          <a:p>
            <a:pPr algn="ctr">
              <a:lnSpc>
                <a:spcPts val="2929"/>
              </a:lnSpc>
              <a:spcBef>
                <a:spcPct val="0"/>
              </a:spcBef>
            </a:pPr>
            <a:endParaRPr lang="en-US" sz="2092">
              <a:solidFill>
                <a:srgbClr val="27354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447025" y="4793790"/>
            <a:ext cx="3299098" cy="74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"/>
              </a:lnSpc>
            </a:pPr>
            <a:r>
              <a:rPr lang="en-US" sz="2092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Ms. Chamali Pabasara​</a:t>
            </a:r>
          </a:p>
          <a:p>
            <a:pPr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27354C"/>
                </a:solidFill>
                <a:latin typeface="Poppins"/>
                <a:ea typeface="Poppins"/>
                <a:cs typeface="Poppins"/>
                <a:sym typeface="Poppins"/>
              </a:rPr>
              <a:t>Co-Supervisor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38" name="AutoShape 38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A5BCDD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395EF0D4-31C3-8799-9451-C4A374CB0F2F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37EC31B-ECFF-6AB7-DD0B-8E48882586FF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D9DF08D7-C890-AE2C-65D5-BAB66A302586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24523AF3-502F-9582-626D-E95472D5ECE4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B3B90A6C-8517-274D-B657-5FC206BA05FC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78F0E09-02B8-7F54-ED76-62A4A1AEBEE4}"/>
              </a:ext>
            </a:extLst>
          </p:cNvPr>
          <p:cNvSpPr txBox="1"/>
          <p:nvPr/>
        </p:nvSpPr>
        <p:spPr>
          <a:xfrm>
            <a:off x="729676" y="1200422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STATEMENT: ACADEMIC STRESS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2561E02-5C81-FAA8-2CD3-A88150839C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552093"/>
              </p:ext>
            </p:extLst>
          </p:nvPr>
        </p:nvGraphicFramePr>
        <p:xfrm>
          <a:off x="431208" y="2594899"/>
          <a:ext cx="17425584" cy="6741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8">
            <a:extLst>
              <a:ext uri="{FF2B5EF4-FFF2-40B4-BE49-F238E27FC236}">
                <a16:creationId xmlns:a16="http://schemas.microsoft.com/office/drawing/2014/main" id="{89BAA30F-8292-FDCE-C418-A753EAD9C544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F9D44544-B22B-E7DE-C03D-EF2376DDCE30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2B426886-3DC5-594D-926F-36BF8C15181E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2D4E5B16-2F61-1FEE-B02D-493E3C147FD5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EB8A5A50-664C-4C76-453A-AC2138FC4151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705C51-E5B6-727E-EC98-FAE8FF38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3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7903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80D5-A09F-9D71-F21F-311F2B26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055BB6FD-E806-723B-79E3-8C5DD0687535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B47FA449-35EA-2E36-1812-B2F1635CB9CB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3FC77FD6-3821-7B7F-8E53-2B398D837883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2B5602A9-8951-0094-330C-AAC104E54F96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DCD4E1EA-0871-73E7-E026-7EB8A14A6508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5A49A0-C47C-DC70-1ED9-3376A524D303}"/>
              </a:ext>
            </a:extLst>
          </p:cNvPr>
          <p:cNvSpPr txBox="1"/>
          <p:nvPr/>
        </p:nvSpPr>
        <p:spPr>
          <a:xfrm>
            <a:off x="729676" y="1111934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>
                <a:solidFill>
                  <a:srgbClr val="5777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TARGET USERS AND BENEFICIARIES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3E483C13-518B-444B-F237-F9510375D2F9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3AD3598-E2AE-2E84-A56C-F724F5FE3D1F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592706D5-66E1-4CCC-295C-9400A96E09DC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FA4960E4-0B48-8F89-E6C6-DC0230BAB4EF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9201C0C-BCC7-FE64-782E-423567B0B30C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9D06753-6764-2111-E7DD-AD116B1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4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9297CD8-AE26-689C-FF3E-71EA4E81C8BE}"/>
              </a:ext>
            </a:extLst>
          </p:cNvPr>
          <p:cNvGrpSpPr/>
          <p:nvPr/>
        </p:nvGrpSpPr>
        <p:grpSpPr>
          <a:xfrm>
            <a:off x="740178" y="2704892"/>
            <a:ext cx="7680960" cy="6439739"/>
            <a:chOff x="0" y="0"/>
            <a:chExt cx="2455221" cy="1266389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D3943B65-1392-F0CE-4BC7-B84DAD240098}"/>
                </a:ext>
              </a:extLst>
            </p:cNvPr>
            <p:cNvSpPr/>
            <p:nvPr/>
          </p:nvSpPr>
          <p:spPr>
            <a:xfrm>
              <a:off x="0" y="0"/>
              <a:ext cx="2455221" cy="1266389"/>
            </a:xfrm>
            <a:custGeom>
              <a:avLst/>
              <a:gdLst/>
              <a:ahLst/>
              <a:cxnLst/>
              <a:rect l="l" t="t" r="r" b="b"/>
              <a:pathLst>
                <a:path w="2455221" h="1266389">
                  <a:moveTo>
                    <a:pt x="0" y="0"/>
                  </a:moveTo>
                  <a:lnTo>
                    <a:pt x="2455221" y="0"/>
                  </a:lnTo>
                  <a:lnTo>
                    <a:pt x="2455221" y="1266389"/>
                  </a:lnTo>
                  <a:lnTo>
                    <a:pt x="0" y="1266389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8315E0E-0D96-9170-8689-09439AB96BDC}"/>
                </a:ext>
              </a:extLst>
            </p:cNvPr>
            <p:cNvSpPr txBox="1"/>
            <p:nvPr/>
          </p:nvSpPr>
          <p:spPr>
            <a:xfrm>
              <a:off x="0" y="-47625"/>
              <a:ext cx="2455221" cy="1314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4DF63C53-AEA0-ABFA-97A2-A99FEAC912F5}"/>
              </a:ext>
            </a:extLst>
          </p:cNvPr>
          <p:cNvGrpSpPr/>
          <p:nvPr/>
        </p:nvGrpSpPr>
        <p:grpSpPr>
          <a:xfrm>
            <a:off x="9866862" y="2660211"/>
            <a:ext cx="7680960" cy="6471111"/>
            <a:chOff x="0" y="0"/>
            <a:chExt cx="2455221" cy="1266389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A82AA2AE-6F45-862B-8D84-058DB8BF1A1A}"/>
                </a:ext>
              </a:extLst>
            </p:cNvPr>
            <p:cNvSpPr/>
            <p:nvPr/>
          </p:nvSpPr>
          <p:spPr>
            <a:xfrm>
              <a:off x="0" y="0"/>
              <a:ext cx="2455221" cy="1266389"/>
            </a:xfrm>
            <a:custGeom>
              <a:avLst/>
              <a:gdLst/>
              <a:ahLst/>
              <a:cxnLst/>
              <a:rect l="l" t="t" r="r" b="b"/>
              <a:pathLst>
                <a:path w="2455221" h="1266389">
                  <a:moveTo>
                    <a:pt x="0" y="0"/>
                  </a:moveTo>
                  <a:lnTo>
                    <a:pt x="2455221" y="0"/>
                  </a:lnTo>
                  <a:lnTo>
                    <a:pt x="2455221" y="1266389"/>
                  </a:lnTo>
                  <a:lnTo>
                    <a:pt x="0" y="1266389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891C2285-6685-7FAA-8066-088F55422BCA}"/>
                </a:ext>
              </a:extLst>
            </p:cNvPr>
            <p:cNvSpPr txBox="1"/>
            <p:nvPr/>
          </p:nvSpPr>
          <p:spPr>
            <a:xfrm>
              <a:off x="0" y="-47625"/>
              <a:ext cx="2455221" cy="1314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71">
            <a:extLst>
              <a:ext uri="{FF2B5EF4-FFF2-40B4-BE49-F238E27FC236}">
                <a16:creationId xmlns:a16="http://schemas.microsoft.com/office/drawing/2014/main" id="{0869A4B1-D6FB-5890-8602-70B3BCD6DCA2}"/>
              </a:ext>
            </a:extLst>
          </p:cNvPr>
          <p:cNvSpPr txBox="1"/>
          <p:nvPr/>
        </p:nvSpPr>
        <p:spPr>
          <a:xfrm>
            <a:off x="3327967" y="2988824"/>
            <a:ext cx="250538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PRIMARY</a:t>
            </a:r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9A548A12-4F32-4077-1399-58FD71543528}"/>
              </a:ext>
            </a:extLst>
          </p:cNvPr>
          <p:cNvSpPr txBox="1"/>
          <p:nvPr/>
        </p:nvSpPr>
        <p:spPr>
          <a:xfrm>
            <a:off x="12296004" y="2951192"/>
            <a:ext cx="282267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SECONDARY</a:t>
            </a:r>
          </a:p>
        </p:txBody>
      </p:sp>
      <p:sp>
        <p:nvSpPr>
          <p:cNvPr id="23" name="TextBox 71">
            <a:extLst>
              <a:ext uri="{FF2B5EF4-FFF2-40B4-BE49-F238E27FC236}">
                <a16:creationId xmlns:a16="http://schemas.microsoft.com/office/drawing/2014/main" id="{280EF5E6-75A4-19B4-A326-E80245D3710C}"/>
              </a:ext>
            </a:extLst>
          </p:cNvPr>
          <p:cNvSpPr txBox="1"/>
          <p:nvPr/>
        </p:nvSpPr>
        <p:spPr>
          <a:xfrm>
            <a:off x="1360670" y="3859375"/>
            <a:ext cx="6439976" cy="4072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2800" b="1" dirty="0">
                <a:solidFill>
                  <a:srgbClr val="5777AD"/>
                </a:solidFill>
                <a:latin typeface="League Spartan"/>
                <a:sym typeface="Inter"/>
              </a:rPr>
              <a:t>Age 16 to 30,</a:t>
            </a:r>
            <a:endParaRPr lang="en-US" sz="28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University and college students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Academically committed learners facing high academic pressure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Students preparing for exams, projects, and career transitions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TextBox 71">
            <a:extLst>
              <a:ext uri="{FF2B5EF4-FFF2-40B4-BE49-F238E27FC236}">
                <a16:creationId xmlns:a16="http://schemas.microsoft.com/office/drawing/2014/main" id="{BFE11598-B268-232F-CA3E-8D26AE65544F}"/>
              </a:ext>
            </a:extLst>
          </p:cNvPr>
          <p:cNvSpPr txBox="1"/>
          <p:nvPr/>
        </p:nvSpPr>
        <p:spPr>
          <a:xfrm>
            <a:off x="10413187" y="3721596"/>
            <a:ext cx="6744098" cy="5039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2800" b="1" dirty="0">
                <a:solidFill>
                  <a:srgbClr val="5777AD"/>
                </a:solidFill>
                <a:latin typeface="League Spartan"/>
                <a:sym typeface="Inter"/>
              </a:rPr>
              <a:t>Educational Sector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Improved student performance and retention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  <a:p>
            <a:pPr marL="0" lvl="1">
              <a:lnSpc>
                <a:spcPts val="3572"/>
              </a:lnSpc>
            </a:pPr>
            <a:r>
              <a:rPr lang="en-US" sz="2800" b="1" dirty="0">
                <a:solidFill>
                  <a:srgbClr val="5777AD"/>
                </a:solidFill>
                <a:latin typeface="League Spartan"/>
                <a:sym typeface="Inter"/>
              </a:rPr>
              <a:t>    Families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Reduced emotional and financial strain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  <a:p>
            <a:pPr marL="0" lvl="1">
              <a:lnSpc>
                <a:spcPts val="3572"/>
              </a:lnSpc>
            </a:pPr>
            <a:r>
              <a:rPr lang="en-US" sz="2800" b="1" dirty="0">
                <a:solidFill>
                  <a:srgbClr val="5777AD"/>
                </a:solidFill>
                <a:latin typeface="League Spartan"/>
                <a:sym typeface="Inter"/>
              </a:rPr>
              <a:t>    Society</a:t>
            </a:r>
          </a:p>
          <a:p>
            <a:pPr marL="732680" lvl="1" indent="-457200">
              <a:lnSpc>
                <a:spcPts val="3572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Healthier, more resilient future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59046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EE94-0909-16AF-FA0E-46ADAEBE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5">
            <a:extLst>
              <a:ext uri="{FF2B5EF4-FFF2-40B4-BE49-F238E27FC236}">
                <a16:creationId xmlns:a16="http://schemas.microsoft.com/office/drawing/2014/main" id="{21F1AC21-EDCB-093D-17B4-15C567738D7F}"/>
              </a:ext>
            </a:extLst>
          </p:cNvPr>
          <p:cNvGrpSpPr/>
          <p:nvPr/>
        </p:nvGrpSpPr>
        <p:grpSpPr>
          <a:xfrm>
            <a:off x="9365873" y="2424400"/>
            <a:ext cx="8595360" cy="6439739"/>
            <a:chOff x="0" y="0"/>
            <a:chExt cx="2455221" cy="1266389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ABF17C0F-9AA1-2B3B-1E29-D8726A1E2DBC}"/>
                </a:ext>
              </a:extLst>
            </p:cNvPr>
            <p:cNvSpPr/>
            <p:nvPr/>
          </p:nvSpPr>
          <p:spPr>
            <a:xfrm>
              <a:off x="0" y="0"/>
              <a:ext cx="2455221" cy="1266389"/>
            </a:xfrm>
            <a:custGeom>
              <a:avLst/>
              <a:gdLst/>
              <a:ahLst/>
              <a:cxnLst/>
              <a:rect l="l" t="t" r="r" b="b"/>
              <a:pathLst>
                <a:path w="2455221" h="1266389">
                  <a:moveTo>
                    <a:pt x="0" y="0"/>
                  </a:moveTo>
                  <a:lnTo>
                    <a:pt x="2455221" y="0"/>
                  </a:lnTo>
                  <a:lnTo>
                    <a:pt x="2455221" y="1266389"/>
                  </a:lnTo>
                  <a:lnTo>
                    <a:pt x="0" y="1266389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389845CC-207F-E8D4-3173-C749AE1E22C3}"/>
                </a:ext>
              </a:extLst>
            </p:cNvPr>
            <p:cNvSpPr txBox="1"/>
            <p:nvPr/>
          </p:nvSpPr>
          <p:spPr>
            <a:xfrm>
              <a:off x="0" y="-47625"/>
              <a:ext cx="2455221" cy="1314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9F21E4A4-0D5D-B9D1-8F40-366AB872227F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DB0F620-ABD3-C2E7-F41B-2E862E76B754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0670B27A-C0C3-3ED4-5C0E-FCFC7452F2E9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37A370C8-5EE5-B29C-BBAA-C6AE47A6D43A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4D120B7F-B16E-92CF-6E05-38E2432E072A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849EDDC-5E40-6A5A-014C-C69236CC5F15}"/>
              </a:ext>
            </a:extLst>
          </p:cNvPr>
          <p:cNvSpPr txBox="1"/>
          <p:nvPr/>
        </p:nvSpPr>
        <p:spPr>
          <a:xfrm>
            <a:off x="729676" y="1111934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GAP &amp; OBJECTIVES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15B6E263-ECCC-CD0A-0873-4E7509D2CDF5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82B122DB-C38A-3330-0EF9-F55711A1A5EC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971797A7-D9C9-CC7B-31CC-D27469A94D8E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6F945BFF-891E-87F9-A0D2-FF4FBD559809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0C4FC0DD-9EB9-F8F2-7F63-3FE7F4EB39B5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428BAFB-9ACD-0E08-C5A0-F5610B09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5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30B258FB-9A02-8D45-2B2C-9CCF1F1F8D72}"/>
              </a:ext>
            </a:extLst>
          </p:cNvPr>
          <p:cNvGrpSpPr/>
          <p:nvPr/>
        </p:nvGrpSpPr>
        <p:grpSpPr>
          <a:xfrm>
            <a:off x="388996" y="2424400"/>
            <a:ext cx="8595360" cy="6439739"/>
            <a:chOff x="0" y="0"/>
            <a:chExt cx="2455221" cy="1266389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4FC525D7-021C-C486-6A74-E061E11861CE}"/>
                </a:ext>
              </a:extLst>
            </p:cNvPr>
            <p:cNvSpPr/>
            <p:nvPr/>
          </p:nvSpPr>
          <p:spPr>
            <a:xfrm>
              <a:off x="0" y="0"/>
              <a:ext cx="2455221" cy="1266389"/>
            </a:xfrm>
            <a:custGeom>
              <a:avLst/>
              <a:gdLst/>
              <a:ahLst/>
              <a:cxnLst/>
              <a:rect l="l" t="t" r="r" b="b"/>
              <a:pathLst>
                <a:path w="2455221" h="1266389">
                  <a:moveTo>
                    <a:pt x="0" y="0"/>
                  </a:moveTo>
                  <a:lnTo>
                    <a:pt x="2455221" y="0"/>
                  </a:lnTo>
                  <a:lnTo>
                    <a:pt x="2455221" y="1266389"/>
                  </a:lnTo>
                  <a:lnTo>
                    <a:pt x="0" y="1266389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8FAE0304-7319-3423-C061-94A9E73B12A4}"/>
                </a:ext>
              </a:extLst>
            </p:cNvPr>
            <p:cNvSpPr txBox="1"/>
            <p:nvPr/>
          </p:nvSpPr>
          <p:spPr>
            <a:xfrm>
              <a:off x="0" y="-47625"/>
              <a:ext cx="2455221" cy="1314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12"/>
                </a:lnSpc>
              </a:pPr>
              <a:endParaRPr/>
            </a:p>
          </p:txBody>
        </p:sp>
      </p:grpSp>
      <p:sp>
        <p:nvSpPr>
          <p:cNvPr id="21" name="TextBox 71">
            <a:extLst>
              <a:ext uri="{FF2B5EF4-FFF2-40B4-BE49-F238E27FC236}">
                <a16:creationId xmlns:a16="http://schemas.microsoft.com/office/drawing/2014/main" id="{8C7D93BB-5BF3-95BB-F8D6-2993031EEE85}"/>
              </a:ext>
            </a:extLst>
          </p:cNvPr>
          <p:cNvSpPr txBox="1"/>
          <p:nvPr/>
        </p:nvSpPr>
        <p:spPr>
          <a:xfrm>
            <a:off x="2838656" y="2606280"/>
            <a:ext cx="355180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RESEARCH GAP</a:t>
            </a:r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3D9A1722-4C46-9CFB-A0AD-BD5A59199600}"/>
              </a:ext>
            </a:extLst>
          </p:cNvPr>
          <p:cNvSpPr txBox="1"/>
          <p:nvPr/>
        </p:nvSpPr>
        <p:spPr>
          <a:xfrm>
            <a:off x="11577835" y="2611149"/>
            <a:ext cx="425900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</a:rPr>
              <a:t>MAIN OBJECTIVE</a:t>
            </a:r>
            <a:endParaRPr lang="en-US" sz="3200" b="1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23" name="TextBox 71">
            <a:extLst>
              <a:ext uri="{FF2B5EF4-FFF2-40B4-BE49-F238E27FC236}">
                <a16:creationId xmlns:a16="http://schemas.microsoft.com/office/drawing/2014/main" id="{51389184-E705-8AE9-F73A-28FC0BE72207}"/>
              </a:ext>
            </a:extLst>
          </p:cNvPr>
          <p:cNvSpPr txBox="1"/>
          <p:nvPr/>
        </p:nvSpPr>
        <p:spPr>
          <a:xfrm>
            <a:off x="650657" y="3216527"/>
            <a:ext cx="8167863" cy="5763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Most apps are reactive, not predictive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Limited integration of academic workload as a stress trigger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Mood tracking and journaling tools are standalone and not intelligent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Lack of personalized stress fingerprinting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Insufficient real-time emotion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Weak anonymous and stigma-free support pathways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Limited use of AI-driven proactive intervention models</a:t>
            </a:r>
          </a:p>
          <a:p>
            <a:pPr marL="73268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TextBox 71">
            <a:extLst>
              <a:ext uri="{FF2B5EF4-FFF2-40B4-BE49-F238E27FC236}">
                <a16:creationId xmlns:a16="http://schemas.microsoft.com/office/drawing/2014/main" id="{EC82921E-3DB0-C60D-A9A0-6378CE80BD79}"/>
              </a:ext>
            </a:extLst>
          </p:cNvPr>
          <p:cNvSpPr txBox="1"/>
          <p:nvPr/>
        </p:nvSpPr>
        <p:spPr>
          <a:xfrm>
            <a:off x="10074537" y="3253640"/>
            <a:ext cx="7265599" cy="3257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To design and develop a mobile-based application that enables university students to monitor, predict, visualize, and manage academic stress through self-monitoring, machine learning–based forecasting, adaptive visualization, and anonymous counseling support.</a:t>
            </a:r>
          </a:p>
        </p:txBody>
      </p:sp>
    </p:spTree>
    <p:extLst>
      <p:ext uri="{BB962C8B-B14F-4D97-AF65-F5344CB8AC3E}">
        <p14:creationId xmlns:p14="http://schemas.microsoft.com/office/powerpoint/2010/main" val="376714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D227-7F05-F0A4-72FF-1CA2823F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4CB1204B-4FC8-BBCE-A345-12D89FA2F0DB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6B93B4C6-1270-E6A3-D066-1A9F731E2293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BD39FD45-9BFE-2F1B-4F6D-BD68F83CB44F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1F50F2C6-A85E-8C80-A3AC-9885497C6569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D5F46D9C-7AED-3E68-D55F-BF75A9FE38F5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61AA518-7CFF-EC80-968F-C3E38797A2B6}"/>
              </a:ext>
            </a:extLst>
          </p:cNvPr>
          <p:cNvSpPr txBox="1"/>
          <p:nvPr/>
        </p:nvSpPr>
        <p:spPr>
          <a:xfrm>
            <a:off x="729676" y="979202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SOLUTION OVERVIEW OF MIND+</a:t>
            </a:r>
            <a:endParaRPr lang="en-US" sz="60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227FAF61-22E9-8D31-1631-D2764D8EF66C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5E0B897C-6192-F1A9-2582-2EAE27DC395E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E953578D-FC71-1505-A2C5-B2457B8084B7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525158F4-A0B0-9175-2B55-9F57440A6BE5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C7AA9D50-004E-7957-203A-FB286F781CA3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B07D7A-F01C-D848-C53F-D46D16B2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6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76ABD3C6-4EC4-0AE2-E1FD-00F24249B30D}"/>
              </a:ext>
            </a:extLst>
          </p:cNvPr>
          <p:cNvSpPr/>
          <p:nvPr/>
        </p:nvSpPr>
        <p:spPr>
          <a:xfrm>
            <a:off x="857975" y="2416141"/>
            <a:ext cx="17005022" cy="1502716"/>
          </a:xfrm>
          <a:custGeom>
            <a:avLst/>
            <a:gdLst/>
            <a:ahLst/>
            <a:cxnLst/>
            <a:rect l="l" t="t" r="r" b="b"/>
            <a:pathLst>
              <a:path w="2455221" h="1266389">
                <a:moveTo>
                  <a:pt x="0" y="0"/>
                </a:moveTo>
                <a:lnTo>
                  <a:pt x="2455221" y="0"/>
                </a:lnTo>
                <a:lnTo>
                  <a:pt x="2455221" y="1266389"/>
                </a:lnTo>
                <a:lnTo>
                  <a:pt x="0" y="1266389"/>
                </a:lnTo>
                <a:close/>
              </a:path>
            </a:pathLst>
          </a:custGeom>
          <a:solidFill>
            <a:srgbClr val="E9EAE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F70D64E3-7BA2-1863-79C6-4F5EFD103B8F}"/>
              </a:ext>
            </a:extLst>
          </p:cNvPr>
          <p:cNvSpPr txBox="1"/>
          <p:nvPr/>
        </p:nvSpPr>
        <p:spPr>
          <a:xfrm>
            <a:off x="462084" y="2721319"/>
            <a:ext cx="16668343" cy="8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30" lvl="2">
              <a:lnSpc>
                <a:spcPts val="3582"/>
              </a:lnSpc>
            </a:pP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</a:rPr>
              <a:t>An AI-driven, privacy-preserving digital companion that enables continuous monitoring, prediction, and personalized management of academic stress among students.</a:t>
            </a:r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82018AD2-11EE-6EA4-5851-5289C2215B03}"/>
              </a:ext>
            </a:extLst>
          </p:cNvPr>
          <p:cNvSpPr/>
          <p:nvPr/>
        </p:nvSpPr>
        <p:spPr>
          <a:xfrm>
            <a:off x="857975" y="4099682"/>
            <a:ext cx="8286025" cy="5208116"/>
          </a:xfrm>
          <a:custGeom>
            <a:avLst/>
            <a:gdLst/>
            <a:ahLst/>
            <a:cxnLst/>
            <a:rect l="l" t="t" r="r" b="b"/>
            <a:pathLst>
              <a:path w="2455221" h="1266389">
                <a:moveTo>
                  <a:pt x="0" y="0"/>
                </a:moveTo>
                <a:lnTo>
                  <a:pt x="2455221" y="0"/>
                </a:lnTo>
                <a:lnTo>
                  <a:pt x="2455221" y="1266389"/>
                </a:lnTo>
                <a:lnTo>
                  <a:pt x="0" y="1266389"/>
                </a:lnTo>
                <a:close/>
              </a:path>
            </a:pathLst>
          </a:custGeom>
          <a:solidFill>
            <a:srgbClr val="E9EAEB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2EDD0AA-7ED5-4FD3-1F27-4D2642AC0433}"/>
              </a:ext>
            </a:extLst>
          </p:cNvPr>
          <p:cNvSpPr/>
          <p:nvPr/>
        </p:nvSpPr>
        <p:spPr>
          <a:xfrm>
            <a:off x="9361715" y="4099682"/>
            <a:ext cx="8501284" cy="5135362"/>
          </a:xfrm>
          <a:custGeom>
            <a:avLst/>
            <a:gdLst/>
            <a:ahLst/>
            <a:cxnLst/>
            <a:rect l="l" t="t" r="r" b="b"/>
            <a:pathLst>
              <a:path w="2455221" h="1266389">
                <a:moveTo>
                  <a:pt x="0" y="0"/>
                </a:moveTo>
                <a:lnTo>
                  <a:pt x="2455221" y="0"/>
                </a:lnTo>
                <a:lnTo>
                  <a:pt x="2455221" y="1266389"/>
                </a:lnTo>
                <a:lnTo>
                  <a:pt x="0" y="1266389"/>
                </a:lnTo>
                <a:close/>
              </a:path>
            </a:pathLst>
          </a:custGeom>
          <a:solidFill>
            <a:srgbClr val="E9EAEB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71">
            <a:extLst>
              <a:ext uri="{FF2B5EF4-FFF2-40B4-BE49-F238E27FC236}">
                <a16:creationId xmlns:a16="http://schemas.microsoft.com/office/drawing/2014/main" id="{63DC5C17-C7DE-4D39-91AB-9AB7730C60B0}"/>
              </a:ext>
            </a:extLst>
          </p:cNvPr>
          <p:cNvSpPr txBox="1"/>
          <p:nvPr/>
        </p:nvSpPr>
        <p:spPr>
          <a:xfrm>
            <a:off x="1788457" y="4388365"/>
            <a:ext cx="599918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FUNCTIONAL REQUIRMENTS</a:t>
            </a:r>
          </a:p>
        </p:txBody>
      </p:sp>
      <p:sp>
        <p:nvSpPr>
          <p:cNvPr id="18" name="TextBox 71">
            <a:extLst>
              <a:ext uri="{FF2B5EF4-FFF2-40B4-BE49-F238E27FC236}">
                <a16:creationId xmlns:a16="http://schemas.microsoft.com/office/drawing/2014/main" id="{143D2728-C11C-B73A-7546-61B613404557}"/>
              </a:ext>
            </a:extLst>
          </p:cNvPr>
          <p:cNvSpPr txBox="1"/>
          <p:nvPr/>
        </p:nvSpPr>
        <p:spPr>
          <a:xfrm>
            <a:off x="10074482" y="4388365"/>
            <a:ext cx="707674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NON-FUNCTIONAL REQUIRMENTS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D2C60DC6-CCBE-1CC9-6B99-CBC12219BCB7}"/>
              </a:ext>
            </a:extLst>
          </p:cNvPr>
          <p:cNvSpPr txBox="1"/>
          <p:nvPr/>
        </p:nvSpPr>
        <p:spPr>
          <a:xfrm>
            <a:off x="857976" y="5110365"/>
            <a:ext cx="8088906" cy="4683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User registration &amp; secure profile management</a:t>
            </a:r>
          </a:p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Daily mood check-ins &amp; voice/text journaling</a:t>
            </a:r>
          </a:p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Emotionally intelligent chatbot with task suggestions</a:t>
            </a:r>
          </a:p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Anonymous community forum &amp; emergency escalation</a:t>
            </a:r>
          </a:p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Academic stress heatmap and stress prediction</a:t>
            </a:r>
          </a:p>
          <a:p>
            <a:pPr marL="733430" lvl="2" indent="-457200">
              <a:lnSpc>
                <a:spcPts val="3582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AI-based emotion detection </a:t>
            </a:r>
          </a:p>
          <a:p>
            <a:pPr>
              <a:lnSpc>
                <a:spcPct val="150000"/>
              </a:lnSpc>
            </a:pPr>
            <a:endParaRPr lang="en-US" sz="2600" dirty="0">
              <a:solidFill>
                <a:srgbClr val="27354C"/>
              </a:solidFill>
              <a:latin typeface="Inter"/>
              <a:ea typeface="Inter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B6105EB5-CC2F-6897-4F93-425110EA3D82}"/>
              </a:ext>
            </a:extLst>
          </p:cNvPr>
          <p:cNvSpPr txBox="1"/>
          <p:nvPr/>
        </p:nvSpPr>
        <p:spPr>
          <a:xfrm>
            <a:off x="9776546" y="5079885"/>
            <a:ext cx="7671619" cy="3529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Strong data security &amp; encrypted communication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Fast performance on stress detection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Privacy-focused and anonymous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Scalable &amp; reliable system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User-friendly and accessible</a:t>
            </a:r>
          </a:p>
        </p:txBody>
      </p:sp>
    </p:spTree>
    <p:extLst>
      <p:ext uri="{BB962C8B-B14F-4D97-AF65-F5344CB8AC3E}">
        <p14:creationId xmlns:p14="http://schemas.microsoft.com/office/powerpoint/2010/main" val="55038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F641-83C8-C535-3CFB-4BD9FAA8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>
            <a:extLst>
              <a:ext uri="{FF2B5EF4-FFF2-40B4-BE49-F238E27FC236}">
                <a16:creationId xmlns:a16="http://schemas.microsoft.com/office/drawing/2014/main" id="{BD64AD28-1F6A-2EB7-5353-70227D5A8099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F7B9BB3E-5CCD-925C-C3DC-99CADA341D4D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FD6BE777-356A-7EAF-54CE-9851F336110F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BDCA64C3-97AD-E950-2CDF-F0960C92B9BA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A9AD8E08-E501-02A8-6433-BC0B9A2A6388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0139E0-0DB9-483D-9019-9EA0BACD77AB}"/>
              </a:ext>
            </a:extLst>
          </p:cNvPr>
          <p:cNvSpPr txBox="1"/>
          <p:nvPr/>
        </p:nvSpPr>
        <p:spPr>
          <a:xfrm>
            <a:off x="729676" y="979202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SOLUTION OVERVIEW OF MIND+</a:t>
            </a:r>
            <a:endParaRPr lang="en-US" sz="60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31D49019-70B8-FB45-24F5-57089332C773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8B231E0E-0E40-6598-E3AD-C670F4218C8E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DE498739-5739-D3EA-B217-09B88E57EEE7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DF688791-FAA8-4E48-E9E4-2792DC95D095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1AFFF282-11CF-1689-AE88-B2EF96689AF0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043E05D-214D-0A62-C4BC-3167D777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7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46FFA8B4-FB23-B3F0-6799-1E163B3A11E0}"/>
              </a:ext>
            </a:extLst>
          </p:cNvPr>
          <p:cNvSpPr/>
          <p:nvPr/>
        </p:nvSpPr>
        <p:spPr>
          <a:xfrm>
            <a:off x="857975" y="2416140"/>
            <a:ext cx="8521385" cy="6503055"/>
          </a:xfrm>
          <a:custGeom>
            <a:avLst/>
            <a:gdLst/>
            <a:ahLst/>
            <a:cxnLst/>
            <a:rect l="l" t="t" r="r" b="b"/>
            <a:pathLst>
              <a:path w="2455221" h="1266389">
                <a:moveTo>
                  <a:pt x="0" y="0"/>
                </a:moveTo>
                <a:lnTo>
                  <a:pt x="2455221" y="0"/>
                </a:lnTo>
                <a:lnTo>
                  <a:pt x="2455221" y="1266389"/>
                </a:lnTo>
                <a:lnTo>
                  <a:pt x="0" y="1266389"/>
                </a:lnTo>
                <a:close/>
              </a:path>
            </a:pathLst>
          </a:custGeom>
          <a:solidFill>
            <a:srgbClr val="E9EA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7" name="TextBox 71">
            <a:extLst>
              <a:ext uri="{FF2B5EF4-FFF2-40B4-BE49-F238E27FC236}">
                <a16:creationId xmlns:a16="http://schemas.microsoft.com/office/drawing/2014/main" id="{CE7D8996-4D4E-47EA-8348-92E00AD7ADFA}"/>
              </a:ext>
            </a:extLst>
          </p:cNvPr>
          <p:cNvSpPr txBox="1"/>
          <p:nvPr/>
        </p:nvSpPr>
        <p:spPr>
          <a:xfrm>
            <a:off x="1134199" y="2776382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</a:rPr>
              <a:t>CURRENT COMPLETION STATUS</a:t>
            </a:r>
            <a:endParaRPr lang="en-US" sz="3200" b="1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TextBox 14">
            <a:extLst>
              <a:ext uri="{FF2B5EF4-FFF2-40B4-BE49-F238E27FC236}">
                <a16:creationId xmlns:a16="http://schemas.microsoft.com/office/drawing/2014/main" id="{CDD05E25-82C1-73CF-9EF8-8B830F258897}"/>
              </a:ext>
            </a:extLst>
          </p:cNvPr>
          <p:cNvSpPr txBox="1"/>
          <p:nvPr/>
        </p:nvSpPr>
        <p:spPr>
          <a:xfrm>
            <a:off x="1797534" y="3595860"/>
            <a:ext cx="9022676" cy="4319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AI Emotion Detection Model (trained &amp; integrated)</a:t>
            </a:r>
          </a:p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Voice Journaling &amp; Voice-to-Text Processing</a:t>
            </a:r>
          </a:p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Academic Stress Heatmap &amp; Fingerprinting</a:t>
            </a:r>
          </a:p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Real-time Chatbot with Adaptive Responses</a:t>
            </a:r>
          </a:p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Coping Strategy Recommendation System</a:t>
            </a:r>
          </a:p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7354C"/>
                </a:solidFill>
                <a:latin typeface="Inter"/>
                <a:ea typeface="Inter"/>
              </a:rPr>
              <a:t>Risk Detection &amp; Safety Layer</a:t>
            </a:r>
          </a:p>
        </p:txBody>
      </p:sp>
      <p:sp>
        <p:nvSpPr>
          <p:cNvPr id="72" name="Rectangle 71" descr="Tick Mark PNG Transparent Images Free Download | Vector Files | Pngtree">
            <a:extLst>
              <a:ext uri="{FF2B5EF4-FFF2-40B4-BE49-F238E27FC236}">
                <a16:creationId xmlns:a16="http://schemas.microsoft.com/office/drawing/2014/main" id="{4A293C6D-D256-DA21-32EB-6FCB36C674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16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3" name="Rectangle 72" descr="Tick Mark PNG Transparent Images Free Download | Vector Files | Pngtree">
            <a:extLst>
              <a:ext uri="{FF2B5EF4-FFF2-40B4-BE49-F238E27FC236}">
                <a16:creationId xmlns:a16="http://schemas.microsoft.com/office/drawing/2014/main" id="{EB245D1E-964D-5B38-3ECB-E7B67A4500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16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5" name="Rectangle 60">
            <a:extLst>
              <a:ext uri="{FF2B5EF4-FFF2-40B4-BE49-F238E27FC236}">
                <a16:creationId xmlns:a16="http://schemas.microsoft.com/office/drawing/2014/main" id="{E3920ADF-B26A-1A59-0B48-30EA04EB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8825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Iskoola Pota" panose="020B0502040204020203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61">
            <a:extLst>
              <a:ext uri="{FF2B5EF4-FFF2-40B4-BE49-F238E27FC236}">
                <a16:creationId xmlns:a16="http://schemas.microsoft.com/office/drawing/2014/main" id="{3B4CD702-C7D8-6EB9-86BC-E61E5415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04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BED105E-8AED-BEA4-1FB9-5C58D1E15344}"/>
              </a:ext>
            </a:extLst>
          </p:cNvPr>
          <p:cNvGrpSpPr/>
          <p:nvPr/>
        </p:nvGrpSpPr>
        <p:grpSpPr>
          <a:xfrm>
            <a:off x="1170195" y="3721081"/>
            <a:ext cx="559535" cy="4194488"/>
            <a:chOff x="1099308" y="3723938"/>
            <a:chExt cx="466899" cy="3500051"/>
          </a:xfrm>
        </p:grpSpPr>
        <p:pic>
          <p:nvPicPr>
            <p:cNvPr id="78" name="Graphic 5" descr="Badge Tick1 with solid fill">
              <a:extLst>
                <a:ext uri="{FF2B5EF4-FFF2-40B4-BE49-F238E27FC236}">
                  <a16:creationId xmlns:a16="http://schemas.microsoft.com/office/drawing/2014/main" id="{52D5A2BC-AF77-65C2-B3ED-A0BE252E6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9308" y="4362409"/>
              <a:ext cx="461665" cy="461665"/>
            </a:xfrm>
            <a:prstGeom prst="rect">
              <a:avLst/>
            </a:prstGeom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4EA6211-FC5B-98CE-8FAA-D7D9AEF86C4E}"/>
                </a:ext>
              </a:extLst>
            </p:cNvPr>
            <p:cNvGrpSpPr/>
            <p:nvPr/>
          </p:nvGrpSpPr>
          <p:grpSpPr>
            <a:xfrm>
              <a:off x="1099308" y="3723938"/>
              <a:ext cx="466899" cy="3500051"/>
              <a:chOff x="1007065" y="3725759"/>
              <a:chExt cx="466899" cy="3500051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05F0610D-671B-C0B6-E816-DDBA31FAAEC3}"/>
                  </a:ext>
                </a:extLst>
              </p:cNvPr>
              <p:cNvGrpSpPr/>
              <p:nvPr/>
            </p:nvGrpSpPr>
            <p:grpSpPr>
              <a:xfrm>
                <a:off x="1007068" y="3725759"/>
                <a:ext cx="466896" cy="1734965"/>
                <a:chOff x="1007068" y="3725759"/>
                <a:chExt cx="466896" cy="1734965"/>
              </a:xfrm>
            </p:grpSpPr>
            <p:pic>
              <p:nvPicPr>
                <p:cNvPr id="77" name="Graphic 5" descr="Badge Tick1 with solid fill">
                  <a:extLst>
                    <a:ext uri="{FF2B5EF4-FFF2-40B4-BE49-F238E27FC236}">
                      <a16:creationId xmlns:a16="http://schemas.microsoft.com/office/drawing/2014/main" id="{9C16D452-5CB3-9FE0-2B27-805ABCED2F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2299" y="3725759"/>
                  <a:ext cx="461665" cy="461665"/>
                </a:xfrm>
                <a:prstGeom prst="rect">
                  <a:avLst/>
                </a:prstGeom>
              </p:spPr>
            </p:pic>
            <p:pic>
              <p:nvPicPr>
                <p:cNvPr id="79" name="Graphic 5" descr="Badge Tick1 with solid fill">
                  <a:extLst>
                    <a:ext uri="{FF2B5EF4-FFF2-40B4-BE49-F238E27FC236}">
                      <a16:creationId xmlns:a16="http://schemas.microsoft.com/office/drawing/2014/main" id="{5C2F9A7D-F3E5-1806-4EF4-D2C3A3406E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7068" y="4999059"/>
                  <a:ext cx="461665" cy="461665"/>
                </a:xfrm>
                <a:prstGeom prst="rect">
                  <a:avLst/>
                </a:prstGeom>
              </p:spPr>
            </p:pic>
          </p:grpSp>
          <p:pic>
            <p:nvPicPr>
              <p:cNvPr id="80" name="Graphic 5" descr="Badge Tick1 with solid fill">
                <a:extLst>
                  <a:ext uri="{FF2B5EF4-FFF2-40B4-BE49-F238E27FC236}">
                    <a16:creationId xmlns:a16="http://schemas.microsoft.com/office/drawing/2014/main" id="{26CE8B7D-184D-9ADC-4D3F-CCBE526CC7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07067" y="5586854"/>
                <a:ext cx="461665" cy="461665"/>
              </a:xfrm>
              <a:prstGeom prst="rect">
                <a:avLst/>
              </a:prstGeom>
            </p:spPr>
          </p:pic>
          <p:pic>
            <p:nvPicPr>
              <p:cNvPr id="81" name="Graphic 5" descr="Badge Tick1 with solid fill">
                <a:extLst>
                  <a:ext uri="{FF2B5EF4-FFF2-40B4-BE49-F238E27FC236}">
                    <a16:creationId xmlns:a16="http://schemas.microsoft.com/office/drawing/2014/main" id="{50A09A20-7E14-F956-DBC6-1DCE78D98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07066" y="6203677"/>
                <a:ext cx="461665" cy="461665"/>
              </a:xfrm>
              <a:prstGeom prst="rect">
                <a:avLst/>
              </a:prstGeom>
            </p:spPr>
          </p:pic>
          <p:pic>
            <p:nvPicPr>
              <p:cNvPr id="82" name="Graphic 5" descr="Badge Tick1 with solid fill">
                <a:extLst>
                  <a:ext uri="{FF2B5EF4-FFF2-40B4-BE49-F238E27FC236}">
                    <a16:creationId xmlns:a16="http://schemas.microsoft.com/office/drawing/2014/main" id="{D0182D29-714E-BCDE-6DD9-D3DBEF61F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07065" y="6764145"/>
                <a:ext cx="461665" cy="461665"/>
              </a:xfrm>
              <a:prstGeom prst="rect">
                <a:avLst/>
              </a:prstGeom>
            </p:spPr>
          </p:pic>
        </p:grpSp>
      </p:grpSp>
      <p:sp>
        <p:nvSpPr>
          <p:cNvPr id="87" name="Freeform 16">
            <a:extLst>
              <a:ext uri="{FF2B5EF4-FFF2-40B4-BE49-F238E27FC236}">
                <a16:creationId xmlns:a16="http://schemas.microsoft.com/office/drawing/2014/main" id="{FC02DE2D-5CC7-7CCF-F899-617D8C427BAE}"/>
              </a:ext>
            </a:extLst>
          </p:cNvPr>
          <p:cNvSpPr/>
          <p:nvPr/>
        </p:nvSpPr>
        <p:spPr>
          <a:xfrm>
            <a:off x="9850727" y="2416140"/>
            <a:ext cx="7579300" cy="6503055"/>
          </a:xfrm>
          <a:custGeom>
            <a:avLst/>
            <a:gdLst/>
            <a:ahLst/>
            <a:cxnLst/>
            <a:rect l="l" t="t" r="r" b="b"/>
            <a:pathLst>
              <a:path w="2455221" h="1266389">
                <a:moveTo>
                  <a:pt x="0" y="0"/>
                </a:moveTo>
                <a:lnTo>
                  <a:pt x="2455221" y="0"/>
                </a:lnTo>
                <a:lnTo>
                  <a:pt x="2455221" y="1266389"/>
                </a:lnTo>
                <a:lnTo>
                  <a:pt x="0" y="1266389"/>
                </a:lnTo>
                <a:close/>
              </a:path>
            </a:pathLst>
          </a:custGeom>
          <a:solidFill>
            <a:srgbClr val="E9EAE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8" name="TextBox 71">
            <a:extLst>
              <a:ext uri="{FF2B5EF4-FFF2-40B4-BE49-F238E27FC236}">
                <a16:creationId xmlns:a16="http://schemas.microsoft.com/office/drawing/2014/main" id="{9F69D3ED-A2E0-4056-F973-080747CBD2CD}"/>
              </a:ext>
            </a:extLst>
          </p:cNvPr>
          <p:cNvSpPr txBox="1"/>
          <p:nvPr/>
        </p:nvSpPr>
        <p:spPr>
          <a:xfrm>
            <a:off x="9661731" y="2704512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 algn="ctr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</a:rPr>
              <a:t>REMAINING TASKS</a:t>
            </a:r>
            <a:endParaRPr lang="en-US" sz="3200" b="1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89" name="TextBox 14">
            <a:extLst>
              <a:ext uri="{FF2B5EF4-FFF2-40B4-BE49-F238E27FC236}">
                <a16:creationId xmlns:a16="http://schemas.microsoft.com/office/drawing/2014/main" id="{7DC884AB-E62B-DC81-18DC-BC4234F9F08B}"/>
              </a:ext>
            </a:extLst>
          </p:cNvPr>
          <p:cNvSpPr txBox="1"/>
          <p:nvPr/>
        </p:nvSpPr>
        <p:spPr>
          <a:xfrm>
            <a:off x="10853904" y="3557066"/>
            <a:ext cx="9022676" cy="3589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Minor UI refinements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Performance optimization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Final testing &amp; debugging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</a:rPr>
              <a:t>Deployment preparation</a:t>
            </a:r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  <p:pic>
        <p:nvPicPr>
          <p:cNvPr id="91" name="Graphic 90" descr="Single gear with solid fill">
            <a:extLst>
              <a:ext uri="{FF2B5EF4-FFF2-40B4-BE49-F238E27FC236}">
                <a16:creationId xmlns:a16="http://schemas.microsoft.com/office/drawing/2014/main" id="{227392B6-0B8E-66BE-99C5-41E90DBD42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9327" y="3692833"/>
            <a:ext cx="640080" cy="640080"/>
          </a:xfrm>
          <a:prstGeom prst="rect">
            <a:avLst/>
          </a:prstGeom>
        </p:spPr>
      </p:pic>
      <p:pic>
        <p:nvPicPr>
          <p:cNvPr id="92" name="Graphic 91" descr="Single gear with solid fill">
            <a:extLst>
              <a:ext uri="{FF2B5EF4-FFF2-40B4-BE49-F238E27FC236}">
                <a16:creationId xmlns:a16="http://schemas.microsoft.com/office/drawing/2014/main" id="{73A47209-D3B9-C003-BE74-3CDB543E86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9327" y="4393863"/>
            <a:ext cx="640080" cy="640080"/>
          </a:xfrm>
          <a:prstGeom prst="rect">
            <a:avLst/>
          </a:prstGeom>
        </p:spPr>
      </p:pic>
      <p:pic>
        <p:nvPicPr>
          <p:cNvPr id="93" name="Graphic 92" descr="Single gear with solid fill">
            <a:extLst>
              <a:ext uri="{FF2B5EF4-FFF2-40B4-BE49-F238E27FC236}">
                <a16:creationId xmlns:a16="http://schemas.microsoft.com/office/drawing/2014/main" id="{32CB45E0-D298-0539-05B6-DBFD0C92A2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9327" y="5128260"/>
            <a:ext cx="640080" cy="640080"/>
          </a:xfrm>
          <a:prstGeom prst="rect">
            <a:avLst/>
          </a:prstGeom>
        </p:spPr>
      </p:pic>
      <p:pic>
        <p:nvPicPr>
          <p:cNvPr id="94" name="Graphic 93" descr="Single gear with solid fill">
            <a:extLst>
              <a:ext uri="{FF2B5EF4-FFF2-40B4-BE49-F238E27FC236}">
                <a16:creationId xmlns:a16="http://schemas.microsoft.com/office/drawing/2014/main" id="{E774C24A-4B25-F50E-66DC-F25E87B551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9327" y="5851813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0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B0D2-4E91-22A2-2424-52DF0BE8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58EB98D-B195-1518-AD68-0F447546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333" y="1172546"/>
            <a:ext cx="11893264" cy="7906317"/>
          </a:xfrm>
          <a:prstGeom prst="rect">
            <a:avLst/>
          </a:prstGeom>
        </p:spPr>
      </p:pic>
      <p:grpSp>
        <p:nvGrpSpPr>
          <p:cNvPr id="3" name="Group 6">
            <a:extLst>
              <a:ext uri="{FF2B5EF4-FFF2-40B4-BE49-F238E27FC236}">
                <a16:creationId xmlns:a16="http://schemas.microsoft.com/office/drawing/2014/main" id="{F0B44BFA-4F13-823D-F5F4-4090DBAAD81F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F831C64-9A0B-4177-D116-F652E7A030BA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448CC5E0-8B14-2B5B-714D-446009A2217C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47C1187E-7A7A-CBBB-64F1-621FCE882682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87C931FD-BC44-A38A-B803-DB35F05C6D30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9D7518F-0005-B059-99B0-FE2973507D0A}"/>
              </a:ext>
            </a:extLst>
          </p:cNvPr>
          <p:cNvSpPr txBox="1"/>
          <p:nvPr/>
        </p:nvSpPr>
        <p:spPr>
          <a:xfrm>
            <a:off x="0" y="3382243"/>
            <a:ext cx="5934731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rgbClr val="5777AD"/>
                </a:solidFill>
                <a:latin typeface="League Spartan"/>
              </a:rPr>
              <a:t>SYSTEM ARCHITECTURE</a:t>
            </a:r>
            <a:endParaRPr lang="en-US" sz="54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23999D9E-CE7A-F6BC-3B3E-2F3064245442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4828FC3-2185-E98B-F6C1-9F8030D099C0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D6229BAC-6112-A8EB-2F93-D0CB0DD23E02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2A02949B-5C23-2C6B-C6C2-0E04A7CEE34B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E8DF47B5-0EEE-9021-7E60-642EE29D32ED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FEF8BC7-7C4E-BDA0-EDC2-9F14A31D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8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72" name="Rectangle 71" descr="Tick Mark PNG Transparent Images Free Download | Vector Files | Pngtree">
            <a:extLst>
              <a:ext uri="{FF2B5EF4-FFF2-40B4-BE49-F238E27FC236}">
                <a16:creationId xmlns:a16="http://schemas.microsoft.com/office/drawing/2014/main" id="{F11EA178-0A6C-74D0-EB16-BA45AF60AB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16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3" name="Rectangle 72" descr="Tick Mark PNG Transparent Images Free Download | Vector Files | Pngtree">
            <a:extLst>
              <a:ext uri="{FF2B5EF4-FFF2-40B4-BE49-F238E27FC236}">
                <a16:creationId xmlns:a16="http://schemas.microsoft.com/office/drawing/2014/main" id="{14628A97-5D83-6682-D40B-FF8A575916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16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5" name="Rectangle 60">
            <a:extLst>
              <a:ext uri="{FF2B5EF4-FFF2-40B4-BE49-F238E27FC236}">
                <a16:creationId xmlns:a16="http://schemas.microsoft.com/office/drawing/2014/main" id="{A25ED63A-E8ED-E0BB-AB3F-A6D590794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58825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Iskoola Pota" panose="020B0502040204020203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Rectangle 61">
            <a:extLst>
              <a:ext uri="{FF2B5EF4-FFF2-40B4-BE49-F238E27FC236}">
                <a16:creationId xmlns:a16="http://schemas.microsoft.com/office/drawing/2014/main" id="{973FD078-0E79-B855-D3C5-8F42BE29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04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71">
            <a:extLst>
              <a:ext uri="{FF2B5EF4-FFF2-40B4-BE49-F238E27FC236}">
                <a16:creationId xmlns:a16="http://schemas.microsoft.com/office/drawing/2014/main" id="{C73599DF-C3B4-3B63-B8A4-B8C097D7C547}"/>
              </a:ext>
            </a:extLst>
          </p:cNvPr>
          <p:cNvSpPr txBox="1"/>
          <p:nvPr/>
        </p:nvSpPr>
        <p:spPr>
          <a:xfrm>
            <a:off x="15223351" y="1262842"/>
            <a:ext cx="2174387" cy="388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[IT22315632]</a:t>
            </a:r>
            <a:endParaRPr lang="en-US" sz="1400" b="1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TextBox 71">
            <a:extLst>
              <a:ext uri="{FF2B5EF4-FFF2-40B4-BE49-F238E27FC236}">
                <a16:creationId xmlns:a16="http://schemas.microsoft.com/office/drawing/2014/main" id="{9EC31FCE-AA7D-C287-5610-29792CB5BA79}"/>
              </a:ext>
            </a:extLst>
          </p:cNvPr>
          <p:cNvSpPr txBox="1"/>
          <p:nvPr/>
        </p:nvSpPr>
        <p:spPr>
          <a:xfrm>
            <a:off x="15185251" y="3078942"/>
            <a:ext cx="2797314" cy="390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[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  <a:sym typeface="Roboto Bold"/>
              </a:rPr>
              <a:t>IT22358684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]</a:t>
            </a:r>
            <a:endParaRPr lang="en-US" sz="1400" b="1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18" name="TextBox 71">
            <a:extLst>
              <a:ext uri="{FF2B5EF4-FFF2-40B4-BE49-F238E27FC236}">
                <a16:creationId xmlns:a16="http://schemas.microsoft.com/office/drawing/2014/main" id="{467DB7F8-5256-0C3E-C11F-36A00B6AC834}"/>
              </a:ext>
            </a:extLst>
          </p:cNvPr>
          <p:cNvSpPr txBox="1"/>
          <p:nvPr/>
        </p:nvSpPr>
        <p:spPr>
          <a:xfrm>
            <a:off x="15236051" y="4904612"/>
            <a:ext cx="2797314" cy="390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[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  <a:sym typeface="Roboto Bold"/>
              </a:rPr>
              <a:t>IT22341136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]</a:t>
            </a:r>
            <a:endParaRPr lang="en-US" sz="1400" b="1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19" name="TextBox 71">
            <a:extLst>
              <a:ext uri="{FF2B5EF4-FFF2-40B4-BE49-F238E27FC236}">
                <a16:creationId xmlns:a16="http://schemas.microsoft.com/office/drawing/2014/main" id="{5761ED80-A9D4-59EC-F6EB-FFAAC0A955B4}"/>
              </a:ext>
            </a:extLst>
          </p:cNvPr>
          <p:cNvSpPr txBox="1"/>
          <p:nvPr/>
        </p:nvSpPr>
        <p:spPr>
          <a:xfrm>
            <a:off x="15182711" y="6740442"/>
            <a:ext cx="2174387" cy="390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[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  <a:sym typeface="Roboto Bold"/>
              </a:rPr>
              <a:t>IT22004390</a:t>
            </a:r>
            <a:r>
              <a:rPr lang="en-US" sz="1400" b="1" dirty="0">
                <a:solidFill>
                  <a:srgbClr val="27354C"/>
                </a:solidFill>
                <a:latin typeface="Inter"/>
                <a:ea typeface="Inter"/>
              </a:rPr>
              <a:t>]</a:t>
            </a:r>
            <a:endParaRPr lang="en-US" sz="1400" b="1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4249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15DD8-ED37-455E-30DF-A453EEAD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0460F56E-9EAA-D38F-95A9-1E763CE62EEC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DBF6170B-207C-ECB0-99A0-CE674687F463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520C25A7-7A22-039A-5E1A-5891711185DE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DEC62C4E-2157-B1ED-D707-10698887DCB9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64A2EB46-81C6-A381-9614-BF9A3DC80685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8779946-6D79-01BF-AB20-83D42A9A72FA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453DF3E-6AE6-A7A2-2D5D-71DA2D86AE8D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3979DEE-CD2A-0A19-9E86-CA9FA0DD21A8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77295D58-F2DE-8A9C-1F06-2893C0A2093F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86D4A4B-86B3-A767-31A1-D58ABBAD9E4F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3" name="Slide Number Placeholder 15">
            <a:extLst>
              <a:ext uri="{FF2B5EF4-FFF2-40B4-BE49-F238E27FC236}">
                <a16:creationId xmlns:a16="http://schemas.microsoft.com/office/drawing/2014/main" id="{68FF4773-EBC1-99A0-DF9A-5A15C1857FE9}"/>
              </a:ext>
            </a:extLst>
          </p:cNvPr>
          <p:cNvSpPr txBox="1">
            <a:spLocks/>
          </p:cNvSpPr>
          <p:nvPr/>
        </p:nvSpPr>
        <p:spPr>
          <a:xfrm>
            <a:off x="15729397" y="97048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20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9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425B52-6F52-EEF0-6947-D353F75DBAB1}"/>
              </a:ext>
            </a:extLst>
          </p:cNvPr>
          <p:cNvSpPr txBox="1"/>
          <p:nvPr/>
        </p:nvSpPr>
        <p:spPr>
          <a:xfrm>
            <a:off x="729676" y="979202"/>
            <a:ext cx="17717949" cy="125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DEPLOYMENT / RUNTIME SETUP</a:t>
            </a:r>
            <a:endParaRPr lang="en-US" sz="60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4D187F7B-61D0-80E9-C858-7479A86AF323}"/>
              </a:ext>
            </a:extLst>
          </p:cNvPr>
          <p:cNvSpPr/>
          <p:nvPr/>
        </p:nvSpPr>
        <p:spPr>
          <a:xfrm>
            <a:off x="729672" y="3049179"/>
            <a:ext cx="7957128" cy="2030821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6F3A2F45-01DE-E9DC-162D-7298A0F89C22}"/>
              </a:ext>
            </a:extLst>
          </p:cNvPr>
          <p:cNvSpPr/>
          <p:nvPr/>
        </p:nvSpPr>
        <p:spPr>
          <a:xfrm>
            <a:off x="9601200" y="3049179"/>
            <a:ext cx="7957128" cy="2030821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64093715-1396-EAD5-A51B-4D67E84FA191}"/>
              </a:ext>
            </a:extLst>
          </p:cNvPr>
          <p:cNvSpPr/>
          <p:nvPr/>
        </p:nvSpPr>
        <p:spPr>
          <a:xfrm>
            <a:off x="729672" y="5807068"/>
            <a:ext cx="7957128" cy="2029968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1682142F-AC67-5B0F-464E-FF9239D903EE}"/>
              </a:ext>
            </a:extLst>
          </p:cNvPr>
          <p:cNvSpPr/>
          <p:nvPr/>
        </p:nvSpPr>
        <p:spPr>
          <a:xfrm>
            <a:off x="9601200" y="5807068"/>
            <a:ext cx="7957128" cy="2029968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9" name="TextBox 71">
            <a:extLst>
              <a:ext uri="{FF2B5EF4-FFF2-40B4-BE49-F238E27FC236}">
                <a16:creationId xmlns:a16="http://schemas.microsoft.com/office/drawing/2014/main" id="{D5A10EA6-0B81-1B7C-D0ED-24BCFE5D5764}"/>
              </a:ext>
            </a:extLst>
          </p:cNvPr>
          <p:cNvSpPr txBox="1"/>
          <p:nvPr/>
        </p:nvSpPr>
        <p:spPr>
          <a:xfrm>
            <a:off x="965273" y="3328694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</a:rPr>
              <a:t>FRONTEND</a:t>
            </a:r>
            <a:endParaRPr lang="en-US" sz="3200" b="1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71">
            <a:extLst>
              <a:ext uri="{FF2B5EF4-FFF2-40B4-BE49-F238E27FC236}">
                <a16:creationId xmlns:a16="http://schemas.microsoft.com/office/drawing/2014/main" id="{C70747FE-48E3-03E5-29D1-EE16BDBF06B9}"/>
              </a:ext>
            </a:extLst>
          </p:cNvPr>
          <p:cNvSpPr txBox="1"/>
          <p:nvPr/>
        </p:nvSpPr>
        <p:spPr>
          <a:xfrm>
            <a:off x="9836802" y="3328693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</a:p>
        </p:txBody>
      </p:sp>
      <p:sp>
        <p:nvSpPr>
          <p:cNvPr id="21" name="TextBox 71">
            <a:extLst>
              <a:ext uri="{FF2B5EF4-FFF2-40B4-BE49-F238E27FC236}">
                <a16:creationId xmlns:a16="http://schemas.microsoft.com/office/drawing/2014/main" id="{EE09BD56-2DD0-575E-9E50-BFB7CF8C91E7}"/>
              </a:ext>
            </a:extLst>
          </p:cNvPr>
          <p:cNvSpPr txBox="1"/>
          <p:nvPr/>
        </p:nvSpPr>
        <p:spPr>
          <a:xfrm>
            <a:off x="965273" y="6086595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ML PROCESSING</a:t>
            </a:r>
          </a:p>
        </p:txBody>
      </p:sp>
      <p:sp>
        <p:nvSpPr>
          <p:cNvPr id="22" name="TextBox 71">
            <a:extLst>
              <a:ext uri="{FF2B5EF4-FFF2-40B4-BE49-F238E27FC236}">
                <a16:creationId xmlns:a16="http://schemas.microsoft.com/office/drawing/2014/main" id="{0C49DCCD-957C-2342-F3C8-9313078B4A2B}"/>
              </a:ext>
            </a:extLst>
          </p:cNvPr>
          <p:cNvSpPr txBox="1"/>
          <p:nvPr/>
        </p:nvSpPr>
        <p:spPr>
          <a:xfrm>
            <a:off x="9836801" y="6086595"/>
            <a:ext cx="74859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5480" lvl="1">
              <a:lnSpc>
                <a:spcPts val="3572"/>
              </a:lnSpc>
            </a:pPr>
            <a:r>
              <a:rPr lang="en-US" sz="3200" b="1" dirty="0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20A7191F-7CC4-8A40-F591-C8D6D2A76910}"/>
              </a:ext>
            </a:extLst>
          </p:cNvPr>
          <p:cNvSpPr txBox="1"/>
          <p:nvPr/>
        </p:nvSpPr>
        <p:spPr>
          <a:xfrm>
            <a:off x="3534220" y="3862973"/>
            <a:ext cx="5501178" cy="835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27354C"/>
                </a:solidFill>
                <a:latin typeface="Inter"/>
                <a:ea typeface="Inter"/>
              </a:rPr>
              <a:t>React Native </a:t>
            </a:r>
          </a:p>
        </p:txBody>
      </p:sp>
      <p:pic>
        <p:nvPicPr>
          <p:cNvPr id="2050" name="Picture 2" descr="React native Icons, Logos, Symbols – Free Download PNG, SVG">
            <a:extLst>
              <a:ext uri="{FF2B5EF4-FFF2-40B4-BE49-F238E27FC236}">
                <a16:creationId xmlns:a16="http://schemas.microsoft.com/office/drawing/2014/main" id="{85BC4E6A-2B67-EA7C-CCC5-39CD8BAAA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666" y="3790358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14">
            <a:extLst>
              <a:ext uri="{FF2B5EF4-FFF2-40B4-BE49-F238E27FC236}">
                <a16:creationId xmlns:a16="http://schemas.microsoft.com/office/drawing/2014/main" id="{46666110-ABC6-2F82-8790-19D0A0284AD1}"/>
              </a:ext>
            </a:extLst>
          </p:cNvPr>
          <p:cNvSpPr txBox="1"/>
          <p:nvPr/>
        </p:nvSpPr>
        <p:spPr>
          <a:xfrm>
            <a:off x="3534220" y="6656015"/>
            <a:ext cx="5501178" cy="835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27354C"/>
                </a:solidFill>
                <a:latin typeface="Inter"/>
                <a:ea typeface="Inter"/>
              </a:rPr>
              <a:t>Python-based service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CDDF9CE-3143-CBFE-6830-784929F37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652" y="6656015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78E686BD-810F-EA63-46B5-E115C7595E83}"/>
              </a:ext>
            </a:extLst>
          </p:cNvPr>
          <p:cNvSpPr txBox="1"/>
          <p:nvPr/>
        </p:nvSpPr>
        <p:spPr>
          <a:xfrm>
            <a:off x="12003191" y="3822209"/>
            <a:ext cx="5501178" cy="835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27354C"/>
                </a:solidFill>
                <a:latin typeface="Inter"/>
                <a:ea typeface="Inter"/>
              </a:rPr>
              <a:t>Firebase Cloud Services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97167E6-7CC2-E692-4BD6-24FE0D5BF4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69" y="3862973"/>
            <a:ext cx="779445" cy="9792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371F86-DB22-A19D-0554-818A3C5FB2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7275" y="6478008"/>
            <a:ext cx="1305915" cy="1310880"/>
          </a:xfrm>
          <a:prstGeom prst="rect">
            <a:avLst/>
          </a:prstGeom>
        </p:spPr>
      </p:pic>
      <p:sp>
        <p:nvSpPr>
          <p:cNvPr id="31" name="TextBox 14">
            <a:extLst>
              <a:ext uri="{FF2B5EF4-FFF2-40B4-BE49-F238E27FC236}">
                <a16:creationId xmlns:a16="http://schemas.microsoft.com/office/drawing/2014/main" id="{15E568C2-4210-AE87-DABC-E3A3E47ED624}"/>
              </a:ext>
            </a:extLst>
          </p:cNvPr>
          <p:cNvSpPr txBox="1"/>
          <p:nvPr/>
        </p:nvSpPr>
        <p:spPr>
          <a:xfrm>
            <a:off x="12003191" y="6649326"/>
            <a:ext cx="5501178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27354C"/>
                </a:solidFill>
                <a:latin typeface="Inter"/>
                <a:ea typeface="Inter"/>
              </a:rPr>
              <a:t>Cloud-based client–server system</a:t>
            </a:r>
            <a:endParaRPr lang="en-US" altLang="en-US" sz="3200" dirty="0">
              <a:solidFill>
                <a:srgbClr val="27354C"/>
              </a:solidFill>
              <a:latin typeface="Inter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83120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4615-C4E7-14FB-5C7F-801225DB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B21C0AF3-4DE8-97C1-53BF-601193C07251}"/>
              </a:ext>
            </a:extLst>
          </p:cNvPr>
          <p:cNvGrpSpPr/>
          <p:nvPr/>
        </p:nvGrpSpPr>
        <p:grpSpPr>
          <a:xfrm>
            <a:off x="472798" y="2642781"/>
            <a:ext cx="7011929" cy="5734496"/>
            <a:chOff x="0" y="-47625"/>
            <a:chExt cx="812800" cy="320973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55182001-BB59-C74B-9CC2-341E418B8109}"/>
                </a:ext>
              </a:extLst>
            </p:cNvPr>
            <p:cNvSpPr/>
            <p:nvPr/>
          </p:nvSpPr>
          <p:spPr>
            <a:xfrm>
              <a:off x="62966" y="0"/>
              <a:ext cx="749834" cy="3162105"/>
            </a:xfrm>
            <a:custGeom>
              <a:avLst/>
              <a:gdLst/>
              <a:ahLst/>
              <a:cxnLst/>
              <a:rect l="l" t="t" r="r" b="b"/>
              <a:pathLst>
                <a:path w="812800" h="3162105">
                  <a:moveTo>
                    <a:pt x="0" y="0"/>
                  </a:moveTo>
                  <a:lnTo>
                    <a:pt x="812800" y="0"/>
                  </a:lnTo>
                  <a:lnTo>
                    <a:pt x="812800" y="3162105"/>
                  </a:lnTo>
                  <a:lnTo>
                    <a:pt x="0" y="3162105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62A9E949-DFE1-C19A-DCAB-C4C2584630DA}"/>
                </a:ext>
              </a:extLst>
            </p:cNvPr>
            <p:cNvSpPr txBox="1"/>
            <p:nvPr/>
          </p:nvSpPr>
          <p:spPr>
            <a:xfrm>
              <a:off x="0" y="-47625"/>
              <a:ext cx="812800" cy="3209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1489F266-A1E9-CD60-50AC-2EA0D076864A}"/>
              </a:ext>
            </a:extLst>
          </p:cNvPr>
          <p:cNvSpPr txBox="1"/>
          <p:nvPr/>
        </p:nvSpPr>
        <p:spPr>
          <a:xfrm>
            <a:off x="706688" y="1004558"/>
            <a:ext cx="9415870" cy="11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COMMERCIALIZATION</a:t>
            </a:r>
            <a:endParaRPr lang="en-US" sz="60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A848E756-0B60-A3B0-1B7E-AF501B8DC18B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6A4B4FB7-B15F-C516-76A1-D076732CD747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8B94BEBC-FD51-DF64-E638-B4D28BF8FB0D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9D0C7979-E2F8-8137-17A7-173B79186696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17FD61D9-D54F-783B-C712-224E10208474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84CBF0BF-EF0B-EEA8-FC1C-BC463ED7094B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986D834D-5E38-72EB-D278-24908C5462A4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CE055E19-BC25-001F-49C0-0EE44C9AFE54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E5D1B2EA-1125-2914-F69D-4E15941DEDE6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32CF4B4-A3C9-AD56-B423-08501AD9B4D5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ABC75AC-0C49-AB4D-3038-3B162CDE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10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53F2348E-7E51-F822-81CE-AAF8EBE625F1}"/>
              </a:ext>
            </a:extLst>
          </p:cNvPr>
          <p:cNvSpPr txBox="1"/>
          <p:nvPr/>
        </p:nvSpPr>
        <p:spPr>
          <a:xfrm>
            <a:off x="2024242" y="2943781"/>
            <a:ext cx="39090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27354C"/>
                </a:solidFill>
                <a:latin typeface="Inter Bold"/>
                <a:ea typeface="Inter Bold"/>
              </a:rPr>
              <a:t>Market</a:t>
            </a:r>
            <a:r>
              <a:rPr lang="en-US" sz="4800" dirty="0"/>
              <a:t> </a:t>
            </a:r>
            <a:r>
              <a:rPr lang="en-US" sz="4400" b="1" dirty="0">
                <a:solidFill>
                  <a:srgbClr val="27354C"/>
                </a:solidFill>
                <a:latin typeface="Inter Bold"/>
                <a:ea typeface="Inter Bold"/>
              </a:rPr>
              <a:t>Size</a:t>
            </a:r>
            <a:endParaRPr lang="en-US" sz="4051" b="1" dirty="0">
              <a:solidFill>
                <a:srgbClr val="27354C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09EF417E-FC53-F53B-03F6-54DE55B814F2}"/>
              </a:ext>
            </a:extLst>
          </p:cNvPr>
          <p:cNvSpPr txBox="1"/>
          <p:nvPr/>
        </p:nvSpPr>
        <p:spPr>
          <a:xfrm>
            <a:off x="1171636" y="3970503"/>
            <a:ext cx="6089904" cy="420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4603" lvl="1" indent="-232302">
              <a:lnSpc>
                <a:spcPts val="3012"/>
              </a:lnSpc>
              <a:buFont typeface="Arial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Growing demand for digital mental health and wellness applications</a:t>
            </a:r>
          </a:p>
          <a:p>
            <a:pPr marL="464603" lvl="1" indent="-232302">
              <a:lnSpc>
                <a:spcPts val="3012"/>
              </a:lnSpc>
              <a:buFont typeface="Arial"/>
              <a:buChar char="•"/>
            </a:pPr>
            <a:endParaRPr lang="en-US" sz="2400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  <a:p>
            <a:pPr marL="464603" lvl="1" indent="-232302">
              <a:lnSpc>
                <a:spcPts val="3012"/>
              </a:lnSpc>
              <a:buFont typeface="Arial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Large and expanding student population with increasing reliance on mobile-based support tools</a:t>
            </a:r>
          </a:p>
          <a:p>
            <a:pPr marL="464603" lvl="1" indent="-232302">
              <a:lnSpc>
                <a:spcPts val="3012"/>
              </a:lnSpc>
              <a:buFont typeface="Arial"/>
              <a:buChar char="•"/>
            </a:pPr>
            <a:endParaRPr lang="en-US" sz="2400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  <a:p>
            <a:pPr marL="464603" lvl="1" indent="-232302">
              <a:lnSpc>
                <a:spcPts val="3012"/>
              </a:lnSpc>
              <a:buFont typeface="Arial"/>
              <a:buChar char="•"/>
            </a:pPr>
            <a:r>
              <a:rPr lang="en-US" sz="24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Strong adoption potential within higher education institutions and wellness programs</a:t>
            </a:r>
          </a:p>
          <a:p>
            <a:pPr>
              <a:lnSpc>
                <a:spcPts val="3012"/>
              </a:lnSpc>
            </a:pPr>
            <a:endParaRPr lang="en-US" sz="24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3ADE35B-3DF3-1CBD-E148-0F82D0AF3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235" y="4787256"/>
            <a:ext cx="5080031" cy="4233359"/>
          </a:xfrm>
          <a:prstGeom prst="rect">
            <a:avLst/>
          </a:prstGeom>
        </p:spPr>
      </p:pic>
      <p:sp>
        <p:nvSpPr>
          <p:cNvPr id="29" name="TextBox 21">
            <a:extLst>
              <a:ext uri="{FF2B5EF4-FFF2-40B4-BE49-F238E27FC236}">
                <a16:creationId xmlns:a16="http://schemas.microsoft.com/office/drawing/2014/main" id="{95429EEC-4589-0743-6F00-0708FA47744A}"/>
              </a:ext>
            </a:extLst>
          </p:cNvPr>
          <p:cNvSpPr txBox="1"/>
          <p:nvPr/>
        </p:nvSpPr>
        <p:spPr>
          <a:xfrm>
            <a:off x="7092426" y="7561394"/>
            <a:ext cx="2893584" cy="60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b="1">
                <a:solidFill>
                  <a:srgbClr val="FF0000"/>
                </a:solidFill>
                <a:latin typeface="Inter Bold"/>
                <a:ea typeface="Inter Bold"/>
              </a:rPr>
              <a:t>5000 LKR</a:t>
            </a:r>
            <a:endParaRPr lang="en-US" b="1">
              <a:solidFill>
                <a:srgbClr val="FF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B627717D-7B23-6CCD-933D-1F5BC93AFE31}"/>
              </a:ext>
            </a:extLst>
          </p:cNvPr>
          <p:cNvSpPr txBox="1"/>
          <p:nvPr/>
        </p:nvSpPr>
        <p:spPr>
          <a:xfrm>
            <a:off x="7841726" y="8213353"/>
            <a:ext cx="2893584" cy="60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b="1">
                <a:solidFill>
                  <a:srgbClr val="FF0000"/>
                </a:solidFill>
                <a:latin typeface="Inter Bold"/>
                <a:ea typeface="Inter Bold"/>
              </a:rPr>
              <a:t>2000 LKR</a:t>
            </a:r>
            <a:endParaRPr lang="en-US" b="1">
              <a:solidFill>
                <a:srgbClr val="FF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60287EC0-5187-66FB-E473-B8FBD6905E3C}"/>
              </a:ext>
            </a:extLst>
          </p:cNvPr>
          <p:cNvSpPr txBox="1"/>
          <p:nvPr/>
        </p:nvSpPr>
        <p:spPr>
          <a:xfrm>
            <a:off x="9418898" y="8646174"/>
            <a:ext cx="2893584" cy="60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b="1">
                <a:solidFill>
                  <a:srgbClr val="FF0000"/>
                </a:solidFill>
                <a:latin typeface="Inter Bold"/>
                <a:ea typeface="Inter Bold"/>
              </a:rPr>
              <a:t>2000 LKR</a:t>
            </a:r>
            <a:endParaRPr lang="en-US" b="1">
              <a:solidFill>
                <a:srgbClr val="FF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F457BF2E-9600-3ACD-9843-509C796B2D1D}"/>
              </a:ext>
            </a:extLst>
          </p:cNvPr>
          <p:cNvSpPr txBox="1"/>
          <p:nvPr/>
        </p:nvSpPr>
        <p:spPr>
          <a:xfrm>
            <a:off x="10981897" y="8361220"/>
            <a:ext cx="2893584" cy="60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b="1">
                <a:solidFill>
                  <a:srgbClr val="FF0000"/>
                </a:solidFill>
                <a:latin typeface="Inter Bold"/>
                <a:ea typeface="Inter Bold"/>
              </a:rPr>
              <a:t>2000 LKR</a:t>
            </a:r>
            <a:endParaRPr lang="en-US" b="1">
              <a:solidFill>
                <a:srgbClr val="FF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55540DBD-8F79-FCB1-3D14-61DB8121892C}"/>
              </a:ext>
            </a:extLst>
          </p:cNvPr>
          <p:cNvSpPr txBox="1"/>
          <p:nvPr/>
        </p:nvSpPr>
        <p:spPr>
          <a:xfrm>
            <a:off x="7841726" y="7534944"/>
            <a:ext cx="1939860" cy="330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1400">
                <a:solidFill>
                  <a:srgbClr val="27354C"/>
                </a:solidFill>
                <a:latin typeface="Inter"/>
                <a:ea typeface="Inter"/>
                <a:sym typeface="Inter"/>
              </a:rPr>
              <a:t>Session 01</a:t>
            </a:r>
            <a:endParaRPr lang="en-US" sz="140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823C6064-E392-E335-50C4-54020B9AEB62}"/>
              </a:ext>
            </a:extLst>
          </p:cNvPr>
          <p:cNvSpPr txBox="1"/>
          <p:nvPr/>
        </p:nvSpPr>
        <p:spPr>
          <a:xfrm>
            <a:off x="8619448" y="8230944"/>
            <a:ext cx="1939860" cy="330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1400">
                <a:solidFill>
                  <a:srgbClr val="27354C"/>
                </a:solidFill>
                <a:latin typeface="Inter"/>
                <a:ea typeface="Inter"/>
                <a:sym typeface="Inter"/>
              </a:rPr>
              <a:t>Session 02</a:t>
            </a:r>
            <a:endParaRPr lang="en-US" sz="140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E8453443-FEB8-6D2A-5707-B52CB67538E8}"/>
              </a:ext>
            </a:extLst>
          </p:cNvPr>
          <p:cNvSpPr txBox="1"/>
          <p:nvPr/>
        </p:nvSpPr>
        <p:spPr>
          <a:xfrm>
            <a:off x="10130648" y="8641243"/>
            <a:ext cx="1939860" cy="330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1400">
                <a:solidFill>
                  <a:srgbClr val="27354C"/>
                </a:solidFill>
                <a:latin typeface="Inter"/>
                <a:ea typeface="Inter"/>
                <a:sym typeface="Inter"/>
              </a:rPr>
              <a:t>Session 03</a:t>
            </a:r>
            <a:endParaRPr lang="en-US" sz="140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AD162AD7-9D63-A31F-677E-BBD7FBE7ED1D}"/>
              </a:ext>
            </a:extLst>
          </p:cNvPr>
          <p:cNvSpPr txBox="1"/>
          <p:nvPr/>
        </p:nvSpPr>
        <p:spPr>
          <a:xfrm>
            <a:off x="11712433" y="8359030"/>
            <a:ext cx="1939860" cy="330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1400">
                <a:solidFill>
                  <a:srgbClr val="27354C"/>
                </a:solidFill>
                <a:latin typeface="Inter"/>
                <a:ea typeface="Inter"/>
                <a:sym typeface="Inter"/>
              </a:rPr>
              <a:t>Session 04</a:t>
            </a:r>
            <a:endParaRPr lang="en-US" sz="140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8A9C3B52-EE37-3C9E-702F-D7AEF2985A19}"/>
              </a:ext>
            </a:extLst>
          </p:cNvPr>
          <p:cNvSpPr txBox="1"/>
          <p:nvPr/>
        </p:nvSpPr>
        <p:spPr>
          <a:xfrm>
            <a:off x="12193802" y="7546210"/>
            <a:ext cx="2893584" cy="608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b="1">
                <a:solidFill>
                  <a:srgbClr val="FF0000"/>
                </a:solidFill>
                <a:latin typeface="Inter Bold"/>
                <a:ea typeface="Inter Bold"/>
              </a:rPr>
              <a:t>10000 LKR</a:t>
            </a:r>
            <a:endParaRPr lang="en-US" b="1">
              <a:solidFill>
                <a:srgbClr val="FF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8" name="TextBox 25">
            <a:extLst>
              <a:ext uri="{FF2B5EF4-FFF2-40B4-BE49-F238E27FC236}">
                <a16:creationId xmlns:a16="http://schemas.microsoft.com/office/drawing/2014/main" id="{096EC9EF-1B58-8740-E26D-0CB4E6D80BD6}"/>
              </a:ext>
            </a:extLst>
          </p:cNvPr>
          <p:cNvSpPr txBox="1"/>
          <p:nvPr/>
        </p:nvSpPr>
        <p:spPr>
          <a:xfrm>
            <a:off x="12691085" y="7519761"/>
            <a:ext cx="1939860" cy="330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1400" dirty="0">
                <a:solidFill>
                  <a:srgbClr val="27354C"/>
                </a:solidFill>
                <a:latin typeface="Inter"/>
                <a:ea typeface="Inter"/>
                <a:sym typeface="Inter"/>
              </a:rPr>
              <a:t>Special Sessions</a:t>
            </a:r>
            <a:endParaRPr lang="en-US" sz="14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32" name="Picture 8" descr="23,327 Stress Text Stock Vectors and Vector Art | Shutterstock">
            <a:extLst>
              <a:ext uri="{FF2B5EF4-FFF2-40B4-BE49-F238E27FC236}">
                <a16:creationId xmlns:a16="http://schemas.microsoft.com/office/drawing/2014/main" id="{2EE47700-C74D-1ABD-D587-0965D34AC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9" t="9131" r="17305" b="14376"/>
          <a:stretch>
            <a:fillRect/>
          </a:stretch>
        </p:blipFill>
        <p:spPr bwMode="auto">
          <a:xfrm>
            <a:off x="12710160" y="2084918"/>
            <a:ext cx="5445100" cy="381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25">
            <a:extLst>
              <a:ext uri="{FF2B5EF4-FFF2-40B4-BE49-F238E27FC236}">
                <a16:creationId xmlns:a16="http://schemas.microsoft.com/office/drawing/2014/main" id="{C98594E5-4E97-6625-E302-7C04F7BD2152}"/>
              </a:ext>
            </a:extLst>
          </p:cNvPr>
          <p:cNvSpPr txBox="1"/>
          <p:nvPr/>
        </p:nvSpPr>
        <p:spPr>
          <a:xfrm>
            <a:off x="10472737" y="2925900"/>
            <a:ext cx="4661032" cy="738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2301" lvl="1">
              <a:lnSpc>
                <a:spcPts val="3012"/>
              </a:lnSpc>
            </a:pPr>
            <a:r>
              <a:rPr lang="en-US" sz="2151" b="1" dirty="0">
                <a:solidFill>
                  <a:schemeClr val="accent1"/>
                </a:solidFill>
                <a:latin typeface="Inter"/>
                <a:ea typeface="Inter"/>
                <a:sym typeface="Inter"/>
              </a:rPr>
              <a:t>JUST FOR A MONTHLY SUBCRIPTION</a:t>
            </a:r>
            <a:endParaRPr lang="en-US" sz="2151" b="1" dirty="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A5500D8A-F856-5DF7-C23E-9EDF6DEBD53B}"/>
              </a:ext>
            </a:extLst>
          </p:cNvPr>
          <p:cNvSpPr txBox="1"/>
          <p:nvPr/>
        </p:nvSpPr>
        <p:spPr>
          <a:xfrm>
            <a:off x="10247226" y="2210167"/>
            <a:ext cx="3909040" cy="680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72"/>
              </a:lnSpc>
              <a:spcBef>
                <a:spcPct val="0"/>
              </a:spcBef>
            </a:pPr>
            <a:r>
              <a:rPr lang="en-US" sz="4400" b="1" dirty="0">
                <a:latin typeface="Inter Bold"/>
                <a:ea typeface="Inter Bold"/>
              </a:rPr>
              <a:t>MIND+</a:t>
            </a:r>
            <a:endParaRPr lang="en-US" sz="4051" b="1" dirty="0">
              <a:latin typeface="Inter Bold"/>
              <a:ea typeface="Inter Bold"/>
              <a:cs typeface="Inter Bold"/>
              <a:sym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2501496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57A71-ADC8-946A-7F3B-C90C678D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D64EA14D-AF6E-0E32-72EF-59EC16E9C5E1}"/>
              </a:ext>
            </a:extLst>
          </p:cNvPr>
          <p:cNvGrpSpPr/>
          <p:nvPr/>
        </p:nvGrpSpPr>
        <p:grpSpPr>
          <a:xfrm>
            <a:off x="30838" y="1880781"/>
            <a:ext cx="17832159" cy="7406228"/>
            <a:chOff x="0" y="-47625"/>
            <a:chExt cx="812800" cy="3209730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7D29FCAE-A3B1-674D-652A-A97D366AD5AB}"/>
                </a:ext>
              </a:extLst>
            </p:cNvPr>
            <p:cNvSpPr/>
            <p:nvPr/>
          </p:nvSpPr>
          <p:spPr>
            <a:xfrm>
              <a:off x="432179" y="58468"/>
              <a:ext cx="366734" cy="3007126"/>
            </a:xfrm>
            <a:custGeom>
              <a:avLst/>
              <a:gdLst/>
              <a:ahLst/>
              <a:cxnLst/>
              <a:rect l="l" t="t" r="r" b="b"/>
              <a:pathLst>
                <a:path w="812800" h="3162105">
                  <a:moveTo>
                    <a:pt x="0" y="0"/>
                  </a:moveTo>
                  <a:lnTo>
                    <a:pt x="812800" y="0"/>
                  </a:lnTo>
                  <a:lnTo>
                    <a:pt x="812800" y="3162105"/>
                  </a:lnTo>
                  <a:lnTo>
                    <a:pt x="0" y="3162105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DA504FF5-3818-1AC5-B255-E3271EA97D75}"/>
                </a:ext>
              </a:extLst>
            </p:cNvPr>
            <p:cNvSpPr txBox="1"/>
            <p:nvPr/>
          </p:nvSpPr>
          <p:spPr>
            <a:xfrm>
              <a:off x="0" y="-47625"/>
              <a:ext cx="812800" cy="3209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9" name="TextBox 5">
            <a:extLst>
              <a:ext uri="{FF2B5EF4-FFF2-40B4-BE49-F238E27FC236}">
                <a16:creationId xmlns:a16="http://schemas.microsoft.com/office/drawing/2014/main" id="{2114AC03-D416-604C-3667-C39B71C7C43C}"/>
              </a:ext>
            </a:extLst>
          </p:cNvPr>
          <p:cNvSpPr txBox="1"/>
          <p:nvPr/>
        </p:nvSpPr>
        <p:spPr>
          <a:xfrm>
            <a:off x="683429" y="824776"/>
            <a:ext cx="12276276" cy="1163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COST &amp; FEASIBILITY ANALYSIS</a:t>
            </a:r>
            <a:endParaRPr lang="en-US" sz="6000" b="1" dirty="0">
              <a:solidFill>
                <a:srgbClr val="5777AD"/>
              </a:solidFill>
              <a:latin typeface="League Spartan"/>
              <a:sym typeface="League Spartan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11ABC079-4837-77D9-32EB-746B1616E265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1D3DF853-33BF-F776-4A12-211D13B89CA0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F45CA253-377C-322C-9D30-F5E905142655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134BC17E-C4F0-0B4D-C396-DBBC94E4A5D2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72B87E36-7831-06CD-1500-9F6B2BCC1661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64492A4D-C638-47D8-947A-D204D0626283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5784D149-DBE5-1FB9-9B5C-D50816754BBD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F274E5F6-F31F-4CDA-28DD-F5C912C1E829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E2EDD9DC-A774-AD7C-35CC-43C06ADCFAC7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C481AA2-37E5-C480-D58A-F51C62DFA203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4CAB08-6EB1-A156-B5AE-5616D8BB1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11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039A62AC-C04A-4234-E164-824D317770D3}"/>
              </a:ext>
            </a:extLst>
          </p:cNvPr>
          <p:cNvSpPr/>
          <p:nvPr/>
        </p:nvSpPr>
        <p:spPr>
          <a:xfrm>
            <a:off x="729672" y="2114583"/>
            <a:ext cx="8414328" cy="6938733"/>
          </a:xfrm>
          <a:custGeom>
            <a:avLst/>
            <a:gdLst/>
            <a:ahLst/>
            <a:cxnLst/>
            <a:rect l="l" t="t" r="r" b="b"/>
            <a:pathLst>
              <a:path w="812800" h="3162105">
                <a:moveTo>
                  <a:pt x="0" y="0"/>
                </a:moveTo>
                <a:lnTo>
                  <a:pt x="812800" y="0"/>
                </a:lnTo>
                <a:lnTo>
                  <a:pt x="812800" y="3162105"/>
                </a:lnTo>
                <a:lnTo>
                  <a:pt x="0" y="3162105"/>
                </a:lnTo>
                <a:close/>
              </a:path>
            </a:pathLst>
          </a:cu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BD15B9D2-7A0D-424C-AFF0-FC23445BB395}"/>
              </a:ext>
            </a:extLst>
          </p:cNvPr>
          <p:cNvSpPr txBox="1"/>
          <p:nvPr/>
        </p:nvSpPr>
        <p:spPr>
          <a:xfrm>
            <a:off x="960618" y="2423253"/>
            <a:ext cx="7986299" cy="6000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27354C"/>
                </a:solidFill>
                <a:latin typeface="Inter"/>
                <a:ea typeface="Inter"/>
              </a:rPr>
              <a:t>Estimated Development Cost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Hardware (Laptops / Mobile Devices) – 50,000 LKR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Software &amp; APIs (Firebase, Voice Emotion API) – 40,000 LKR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Domain &amp; Hosting Services – 15,000 LKR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External Consultation (Mental Health Expert) – 25,000 LKR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Testing &amp; Data Collection Tools – 20,000 LKR</a:t>
            </a:r>
          </a:p>
          <a:p>
            <a:pPr lvl="1">
              <a:lnSpc>
                <a:spcPct val="250000"/>
              </a:lnSpc>
            </a:pPr>
            <a:r>
              <a:rPr lang="en-US" sz="2000" dirty="0">
                <a:solidFill>
                  <a:srgbClr val="27354C"/>
                </a:solidFill>
                <a:latin typeface="Inter"/>
                <a:ea typeface="Inter"/>
              </a:rPr>
              <a:t>Operational Costs (Transportation &amp; Stationery) – 10,000 LKR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27354C"/>
                </a:solidFill>
                <a:latin typeface="Inter"/>
                <a:ea typeface="Inter"/>
              </a:rPr>
              <a:t>      Total Estimated Cost: 160,000 LKR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777359A0-0F72-690F-EB70-211E589C0781}"/>
              </a:ext>
            </a:extLst>
          </p:cNvPr>
          <p:cNvSpPr txBox="1"/>
          <p:nvPr/>
        </p:nvSpPr>
        <p:spPr>
          <a:xfrm>
            <a:off x="9722135" y="2483854"/>
            <a:ext cx="7605247" cy="8022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-232302">
              <a:lnSpc>
                <a:spcPct val="200000"/>
              </a:lnSpc>
              <a:buFont typeface="Arial"/>
              <a:buChar char="•"/>
            </a:pPr>
            <a:r>
              <a:rPr lang="en-US" sz="2200" b="1" dirty="0">
                <a:solidFill>
                  <a:srgbClr val="27354C"/>
                </a:solidFill>
                <a:latin typeface="Inter"/>
                <a:ea typeface="Inter"/>
              </a:rPr>
              <a:t>Technical Feasibility: </a:t>
            </a:r>
            <a:r>
              <a:rPr lang="en-US" sz="2200" dirty="0">
                <a:solidFill>
                  <a:srgbClr val="27354C"/>
                </a:solidFill>
                <a:latin typeface="Inter"/>
                <a:ea typeface="Inter"/>
              </a:rPr>
              <a:t>Uses existing AI, NLP, and cloud-based technologies.</a:t>
            </a:r>
          </a:p>
          <a:p>
            <a:pPr lvl="1" indent="-232302">
              <a:lnSpc>
                <a:spcPct val="200000"/>
              </a:lnSpc>
              <a:buFont typeface="Arial"/>
              <a:buChar char="•"/>
            </a:pPr>
            <a:r>
              <a:rPr lang="en-US" sz="2200" b="1" dirty="0">
                <a:solidFill>
                  <a:srgbClr val="27354C"/>
                </a:solidFill>
                <a:latin typeface="Inter"/>
                <a:ea typeface="Inter"/>
              </a:rPr>
              <a:t>Economic Feasibility: </a:t>
            </a:r>
            <a:r>
              <a:rPr lang="en-US" sz="2200" dirty="0">
                <a:solidFill>
                  <a:srgbClr val="27354C"/>
                </a:solidFill>
                <a:latin typeface="Inter"/>
                <a:ea typeface="Inter"/>
              </a:rPr>
              <a:t>Majority of development tools are open-source and cost-efficient.</a:t>
            </a:r>
          </a:p>
          <a:p>
            <a:pPr lvl="1" indent="-232302">
              <a:lnSpc>
                <a:spcPct val="200000"/>
              </a:lnSpc>
              <a:buFont typeface="Arial"/>
              <a:buChar char="•"/>
            </a:pPr>
            <a:r>
              <a:rPr lang="en-US" sz="2200" b="1" dirty="0">
                <a:solidFill>
                  <a:srgbClr val="27354C"/>
                </a:solidFill>
                <a:latin typeface="Inter"/>
                <a:ea typeface="Inter"/>
              </a:rPr>
              <a:t>Operational Feasibility: </a:t>
            </a:r>
            <a:r>
              <a:rPr lang="en-US" sz="2200" dirty="0">
                <a:solidFill>
                  <a:srgbClr val="27354C"/>
                </a:solidFill>
                <a:latin typeface="Inter"/>
                <a:ea typeface="Inter"/>
              </a:rPr>
              <a:t>Designed to support students in managing academic stress effectively.</a:t>
            </a:r>
          </a:p>
          <a:p>
            <a:pPr lvl="1" indent="-232302">
              <a:lnSpc>
                <a:spcPct val="200000"/>
              </a:lnSpc>
              <a:buFont typeface="Arial"/>
              <a:buChar char="•"/>
            </a:pPr>
            <a:r>
              <a:rPr lang="en-US" sz="2200" b="1" dirty="0">
                <a:solidFill>
                  <a:srgbClr val="27354C"/>
                </a:solidFill>
                <a:latin typeface="Inter"/>
                <a:ea typeface="Inter"/>
              </a:rPr>
              <a:t>Schedule Feasibility: </a:t>
            </a:r>
            <a:r>
              <a:rPr lang="en-US" sz="2200" dirty="0">
                <a:solidFill>
                  <a:srgbClr val="27354C"/>
                </a:solidFill>
                <a:latin typeface="Inter"/>
                <a:ea typeface="Inter"/>
              </a:rPr>
              <a:t>Project development is ~90% completed and progressing within the planned timeline.</a:t>
            </a:r>
          </a:p>
          <a:p>
            <a:pPr>
              <a:lnSpc>
                <a:spcPct val="200000"/>
              </a:lnSpc>
            </a:pPr>
            <a:r>
              <a:rPr lang="en-US" sz="2200" dirty="0"/>
              <a:t> </a:t>
            </a:r>
          </a:p>
          <a:p>
            <a:pPr marL="464603" lvl="1" indent="-232302">
              <a:lnSpc>
                <a:spcPct val="200000"/>
              </a:lnSpc>
              <a:buFont typeface="Arial"/>
              <a:buChar char="•"/>
            </a:pPr>
            <a:endParaRPr lang="en-US" sz="2200" dirty="0">
              <a:solidFill>
                <a:srgbClr val="27354C"/>
              </a:solidFill>
              <a:latin typeface="Inter"/>
              <a:ea typeface="Inter"/>
              <a:sym typeface="Inter"/>
            </a:endParaRPr>
          </a:p>
          <a:p>
            <a:pPr>
              <a:lnSpc>
                <a:spcPct val="200000"/>
              </a:lnSpc>
            </a:pPr>
            <a:endParaRPr lang="en-US" sz="2200" dirty="0">
              <a:solidFill>
                <a:srgbClr val="27354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1892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90C5-A63A-6546-DA84-33DF3601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>
            <a:extLst>
              <a:ext uri="{FF2B5EF4-FFF2-40B4-BE49-F238E27FC236}">
                <a16:creationId xmlns:a16="http://schemas.microsoft.com/office/drawing/2014/main" id="{E9644370-7FE1-3056-430C-1BBA0998729C}"/>
              </a:ext>
            </a:extLst>
          </p:cNvPr>
          <p:cNvSpPr txBox="1"/>
          <p:nvPr/>
        </p:nvSpPr>
        <p:spPr>
          <a:xfrm>
            <a:off x="-1847101" y="956025"/>
            <a:ext cx="17571971" cy="1163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ADOPTION PLAN &amp; NEXT STEPS</a:t>
            </a:r>
            <a:endParaRPr lang="en-US" sz="6000" b="1" dirty="0">
              <a:solidFill>
                <a:srgbClr val="5777AD"/>
              </a:solidFill>
              <a:latin typeface="League Spartan"/>
              <a:sym typeface="Inter Bold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CAA61AD9-B032-A864-F077-E0E854401B5A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C10799AF-504C-C3F1-9334-0A4BCF6021B9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AA34417A-BF2A-E0B1-4ABC-0C5103868DC8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2FB0A1EE-A018-A5D2-47B2-89532F2A5BBD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B0DF5FBB-215D-6FAA-2F69-9501A51259B6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22E6E1A-1585-B4F2-6578-8A2FF7B8BD4A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F4513AE-48F5-6DB9-3FA3-049ED3A76A85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57F26ACD-2504-B1A8-83F5-F2D63DF80735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19AA5FD3-FB18-82E9-6EA2-15F140CD7812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10F67D0-C49B-782F-551C-FCC420FA05C5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C0CF8DA-4BC7-4391-7F2D-48DD7238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12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AB140-5AC6-4678-C8BF-516657795D28}"/>
              </a:ext>
            </a:extLst>
          </p:cNvPr>
          <p:cNvSpPr txBox="1"/>
          <p:nvPr/>
        </p:nvSpPr>
        <p:spPr>
          <a:xfrm>
            <a:off x="3275448" y="2437831"/>
            <a:ext cx="11737104" cy="50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2301" lvl="1">
              <a:lnSpc>
                <a:spcPct val="300000"/>
              </a:lnSpc>
            </a:pPr>
            <a:r>
              <a:rPr lang="en-US" sz="2800" b="1" dirty="0">
                <a:solidFill>
                  <a:srgbClr val="27354C"/>
                </a:solidFill>
                <a:latin typeface="Inter"/>
                <a:ea typeface="Inter"/>
              </a:rPr>
              <a:t>Pilot Testing: </a:t>
            </a: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</a:rPr>
              <a:t>Deploy among a small group of university students</a:t>
            </a:r>
          </a:p>
          <a:p>
            <a:pPr marL="232301" lvl="1">
              <a:lnSpc>
                <a:spcPct val="300000"/>
              </a:lnSpc>
            </a:pPr>
            <a:r>
              <a:rPr lang="en-US" sz="2800" b="1" dirty="0">
                <a:solidFill>
                  <a:srgbClr val="27354C"/>
                </a:solidFill>
                <a:latin typeface="Inter"/>
                <a:ea typeface="Inter"/>
              </a:rPr>
              <a:t>Evaluation: </a:t>
            </a: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</a:rPr>
              <a:t>Collect feedback and improve system performance</a:t>
            </a:r>
          </a:p>
          <a:p>
            <a:pPr marL="232301" lvl="1">
              <a:lnSpc>
                <a:spcPct val="300000"/>
              </a:lnSpc>
            </a:pPr>
            <a:r>
              <a:rPr lang="en-US" sz="2800" b="1" dirty="0">
                <a:solidFill>
                  <a:srgbClr val="27354C"/>
                </a:solidFill>
                <a:latin typeface="Inter"/>
                <a:ea typeface="Inter"/>
              </a:rPr>
              <a:t>Partnership: </a:t>
            </a: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</a:rPr>
              <a:t>Collaborate with universities and counseling centers</a:t>
            </a:r>
          </a:p>
          <a:p>
            <a:pPr marL="232301" lvl="1">
              <a:lnSpc>
                <a:spcPct val="300000"/>
              </a:lnSpc>
            </a:pPr>
            <a:r>
              <a:rPr lang="en-US" sz="2800" b="1" dirty="0">
                <a:solidFill>
                  <a:srgbClr val="27354C"/>
                </a:solidFill>
                <a:latin typeface="Inter"/>
                <a:ea typeface="Inter"/>
              </a:rPr>
              <a:t>Rollout: </a:t>
            </a:r>
            <a:r>
              <a:rPr lang="en-US" sz="2800" dirty="0">
                <a:solidFill>
                  <a:srgbClr val="27354C"/>
                </a:solidFill>
                <a:latin typeface="Inter"/>
                <a:ea typeface="Inter"/>
              </a:rPr>
              <a:t>Expand deployment as a student mental wellness platform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E206DA3-56F5-1CF2-105E-742E701F9B52}"/>
              </a:ext>
            </a:extLst>
          </p:cNvPr>
          <p:cNvSpPr/>
          <p:nvPr/>
        </p:nvSpPr>
        <p:spPr>
          <a:xfrm>
            <a:off x="8772525" y="3676702"/>
            <a:ext cx="742950" cy="6286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5777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A15AF04-4654-50F1-C00F-8CE35A562CC2}"/>
              </a:ext>
            </a:extLst>
          </p:cNvPr>
          <p:cNvSpPr/>
          <p:nvPr/>
        </p:nvSpPr>
        <p:spPr>
          <a:xfrm>
            <a:off x="8772525" y="5048774"/>
            <a:ext cx="742950" cy="6286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5777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E717F27-D6FC-0DD6-614A-CCB7112343CC}"/>
              </a:ext>
            </a:extLst>
          </p:cNvPr>
          <p:cNvSpPr/>
          <p:nvPr/>
        </p:nvSpPr>
        <p:spPr>
          <a:xfrm>
            <a:off x="8772525" y="6249575"/>
            <a:ext cx="742950" cy="6286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5777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7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DA10-ED12-F087-9352-45BAB1D0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5">
            <a:extLst>
              <a:ext uri="{FF2B5EF4-FFF2-40B4-BE49-F238E27FC236}">
                <a16:creationId xmlns:a16="http://schemas.microsoft.com/office/drawing/2014/main" id="{C0943399-5906-1B88-970E-CB3994FA050A}"/>
              </a:ext>
            </a:extLst>
          </p:cNvPr>
          <p:cNvSpPr txBox="1"/>
          <p:nvPr/>
        </p:nvSpPr>
        <p:spPr>
          <a:xfrm>
            <a:off x="-5687581" y="1062058"/>
            <a:ext cx="17571971" cy="1163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64"/>
              </a:lnSpc>
            </a:pPr>
            <a:r>
              <a:rPr lang="en-US" sz="6000" b="1" dirty="0">
                <a:solidFill>
                  <a:srgbClr val="5777AD"/>
                </a:solidFill>
                <a:latin typeface="League Spartan"/>
              </a:rPr>
              <a:t>DEMO PLAN</a:t>
            </a:r>
            <a:endParaRPr lang="en-US" sz="6000" b="1" dirty="0">
              <a:solidFill>
                <a:srgbClr val="5777AD"/>
              </a:solidFill>
              <a:latin typeface="League Spartan"/>
              <a:sym typeface="Inter Bold"/>
            </a:endParaRP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7D39837B-6C22-1E79-628D-ACD97D8ED25F}"/>
              </a:ext>
            </a:extLst>
          </p:cNvPr>
          <p:cNvGrpSpPr/>
          <p:nvPr/>
        </p:nvGrpSpPr>
        <p:grpSpPr>
          <a:xfrm>
            <a:off x="194492" y="165338"/>
            <a:ext cx="17960768" cy="896720"/>
            <a:chOff x="65854" y="-57150"/>
            <a:chExt cx="19153750" cy="1195627"/>
          </a:xfrm>
        </p:grpSpPr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6C78D636-DD03-BBF0-99E3-B229DF84EC85}"/>
                </a:ext>
              </a:extLst>
            </p:cNvPr>
            <p:cNvSpPr txBox="1"/>
            <p:nvPr/>
          </p:nvSpPr>
          <p:spPr>
            <a:xfrm>
              <a:off x="1022316" y="-57150"/>
              <a:ext cx="18197288" cy="11956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3712"/>
                </a:lnSpc>
                <a:spcBef>
                  <a:spcPct val="0"/>
                </a:spcBef>
              </a:pPr>
              <a:r>
                <a:rPr lang="en-US" sz="2200" b="1" dirty="0">
                  <a:solidFill>
                    <a:srgbClr val="27354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SELF-MONITORING AND ANONYMOUS COUNSELLING BASED DIGITAL COMPANION FOR ACADEMIC STRESS MANAGEMENT</a:t>
              </a:r>
            </a:p>
            <a:p>
              <a:pPr algn="r">
                <a:lnSpc>
                  <a:spcPts val="3712"/>
                </a:lnSpc>
                <a:spcBef>
                  <a:spcPct val="0"/>
                </a:spcBef>
              </a:pPr>
              <a:endParaRPr lang="en-US" sz="2200" b="1" dirty="0">
                <a:solidFill>
                  <a:srgbClr val="27354C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16AE0C3E-28EF-359A-C801-F61D5370CD7F}"/>
                </a:ext>
              </a:extLst>
            </p:cNvPr>
            <p:cNvGrpSpPr/>
            <p:nvPr/>
          </p:nvGrpSpPr>
          <p:grpSpPr>
            <a:xfrm>
              <a:off x="65854" y="-57149"/>
              <a:ext cx="956462" cy="630214"/>
              <a:chOff x="84933" y="-73706"/>
              <a:chExt cx="1233569" cy="812800"/>
            </a:xfrm>
          </p:grpSpPr>
          <p:sp>
            <p:nvSpPr>
              <p:cNvPr id="6" name="Freeform 9">
                <a:extLst>
                  <a:ext uri="{FF2B5EF4-FFF2-40B4-BE49-F238E27FC236}">
                    <a16:creationId xmlns:a16="http://schemas.microsoft.com/office/drawing/2014/main" id="{59380633-A431-2609-BDAB-3C9D65EE199D}"/>
                  </a:ext>
                </a:extLst>
              </p:cNvPr>
              <p:cNvSpPr/>
              <p:nvPr/>
            </p:nvSpPr>
            <p:spPr>
              <a:xfrm>
                <a:off x="676456" y="-73706"/>
                <a:ext cx="642046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05951" h="812800">
                    <a:moveTo>
                      <a:pt x="452975" y="0"/>
                    </a:moveTo>
                    <a:cubicBezTo>
                      <a:pt x="202804" y="0"/>
                      <a:pt x="0" y="181951"/>
                      <a:pt x="0" y="406400"/>
                    </a:cubicBezTo>
                    <a:cubicBezTo>
                      <a:pt x="0" y="630849"/>
                      <a:pt x="202804" y="812800"/>
                      <a:pt x="452975" y="812800"/>
                    </a:cubicBezTo>
                    <a:cubicBezTo>
                      <a:pt x="703147" y="812800"/>
                      <a:pt x="905951" y="630849"/>
                      <a:pt x="905951" y="406400"/>
                    </a:cubicBezTo>
                    <a:cubicBezTo>
                      <a:pt x="905951" y="181951"/>
                      <a:pt x="703147" y="0"/>
                      <a:pt x="452975" y="0"/>
                    </a:cubicBezTo>
                    <a:close/>
                  </a:path>
                </a:pathLst>
              </a:custGeom>
              <a:solidFill>
                <a:srgbClr val="E9EAEB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10">
                <a:extLst>
                  <a:ext uri="{FF2B5EF4-FFF2-40B4-BE49-F238E27FC236}">
                    <a16:creationId xmlns:a16="http://schemas.microsoft.com/office/drawing/2014/main" id="{8CD88B84-CFF4-4CF3-375C-719E622D03C6}"/>
                  </a:ext>
                </a:extLst>
              </p:cNvPr>
              <p:cNvSpPr txBox="1"/>
              <p:nvPr/>
            </p:nvSpPr>
            <p:spPr>
              <a:xfrm>
                <a:off x="84933" y="28575"/>
                <a:ext cx="736085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12"/>
                  </a:lnSpc>
                </a:pPr>
                <a:endParaRPr/>
              </a:p>
            </p:txBody>
          </p:sp>
        </p:grp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11F3BCE2-D3D9-D93D-0080-AC4BA4088B5F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2BB5F510-31E4-7411-9052-0B4AC4B64E1A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D3840E27-641F-8476-5205-F3B178097EA2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4" name="Freeform 11">
            <a:extLst>
              <a:ext uri="{FF2B5EF4-FFF2-40B4-BE49-F238E27FC236}">
                <a16:creationId xmlns:a16="http://schemas.microsoft.com/office/drawing/2014/main" id="{BBD9D938-6CC0-A310-90A7-FE432AF65185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1B6BCFEF-30D4-58EF-DF16-88C30126EE5F}"/>
              </a:ext>
            </a:extLst>
          </p:cNvPr>
          <p:cNvSpPr txBox="1"/>
          <p:nvPr/>
        </p:nvSpPr>
        <p:spPr>
          <a:xfrm>
            <a:off x="4614558" y="9602857"/>
            <a:ext cx="10094346" cy="43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  <a:spcBef>
                <a:spcPct val="0"/>
              </a:spcBef>
            </a:pPr>
            <a:r>
              <a:rPr lang="en-US" sz="2651">
                <a:solidFill>
                  <a:srgbClr val="27354C"/>
                </a:solidFill>
                <a:latin typeface="Inter"/>
                <a:ea typeface="Inter"/>
                <a:cs typeface="Inter"/>
                <a:sym typeface="Inter"/>
              </a:rPr>
              <a:t>25-26J-480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E898401-AD00-A482-0082-0211B95A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29397" y="97048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200" dirty="0" smtClean="0">
                <a:solidFill>
                  <a:schemeClr val="tx2">
                    <a:lumMod val="49000"/>
                  </a:schemeClr>
                </a:solidFill>
                <a:latin typeface="Inter"/>
                <a:ea typeface="Inter"/>
              </a:rPr>
              <a:pPr/>
              <a:t>13</a:t>
            </a:fld>
            <a:endParaRPr lang="en-GB" sz="3200">
              <a:solidFill>
                <a:schemeClr val="tx2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C515D02C-4693-541A-84EA-31E598C09E9D}"/>
              </a:ext>
            </a:extLst>
          </p:cNvPr>
          <p:cNvSpPr/>
          <p:nvPr/>
        </p:nvSpPr>
        <p:spPr>
          <a:xfrm>
            <a:off x="727508" y="7190084"/>
            <a:ext cx="16700354" cy="1119486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A52A14DF-2897-16E4-8B52-C925E439F4EE}"/>
              </a:ext>
            </a:extLst>
          </p:cNvPr>
          <p:cNvSpPr/>
          <p:nvPr/>
        </p:nvSpPr>
        <p:spPr>
          <a:xfrm>
            <a:off x="727508" y="4097331"/>
            <a:ext cx="16700354" cy="1119486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0DCA074C-5E7B-C53B-D7F2-91ABD2F642D6}"/>
              </a:ext>
            </a:extLst>
          </p:cNvPr>
          <p:cNvSpPr/>
          <p:nvPr/>
        </p:nvSpPr>
        <p:spPr>
          <a:xfrm>
            <a:off x="727508" y="5643918"/>
            <a:ext cx="16700354" cy="1119486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22804236-2C98-A2FA-0F75-17929CBD6DD3}"/>
              </a:ext>
            </a:extLst>
          </p:cNvPr>
          <p:cNvSpPr/>
          <p:nvPr/>
        </p:nvSpPr>
        <p:spPr>
          <a:xfrm>
            <a:off x="729672" y="2548446"/>
            <a:ext cx="16700354" cy="1119486"/>
          </a:xfrm>
          <a:prstGeom prst="roundRect">
            <a:avLst/>
          </a:prstGeom>
          <a:solidFill>
            <a:srgbClr val="EAEBE9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1B531F-F14E-0904-8727-3CBAF9082C2A}"/>
              </a:ext>
            </a:extLst>
          </p:cNvPr>
          <p:cNvSpPr txBox="1">
            <a:spLocks/>
          </p:cNvSpPr>
          <p:nvPr/>
        </p:nvSpPr>
        <p:spPr>
          <a:xfrm>
            <a:off x="857974" y="2725581"/>
            <a:ext cx="164394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Hettiarachchi E.I.			Daily Monitoring				Demonstrates mood calculation, and</a:t>
            </a:r>
          </a:p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IT22004390									recommendations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BC537A-2AA5-94DE-A11B-DAB9D7C06754}"/>
              </a:ext>
            </a:extLst>
          </p:cNvPr>
          <p:cNvSpPr txBox="1">
            <a:spLocks/>
          </p:cNvSpPr>
          <p:nvPr/>
        </p:nvSpPr>
        <p:spPr>
          <a:xfrm>
            <a:off x="857972" y="7292278"/>
            <a:ext cx="164394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Jayasooriya J.K.B.A.P.		Adaptive Stress Heatmap		Demonstrates stress prediction and IT22358684									heatmap visualization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EAF3B9-862B-481B-ECA2-37C01AFA2CFE}"/>
              </a:ext>
            </a:extLst>
          </p:cNvPr>
          <p:cNvSpPr txBox="1">
            <a:spLocks/>
          </p:cNvSpPr>
          <p:nvPr/>
        </p:nvSpPr>
        <p:spPr>
          <a:xfrm>
            <a:off x="857973" y="5751262"/>
            <a:ext cx="164394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>
                <a:solidFill>
                  <a:srgbClr val="27354C"/>
                </a:solidFill>
                <a:latin typeface="Inter"/>
                <a:ea typeface="Inter"/>
              </a:rPr>
              <a:t>Raajapaksha</a:t>
            </a:r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 R.N.D.K.		Voice Journaling				Demonstrates audio recording and</a:t>
            </a:r>
          </a:p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IT22315632									stress keyword detection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84D170-0C28-E4E9-2C51-ADB882166260}"/>
              </a:ext>
            </a:extLst>
          </p:cNvPr>
          <p:cNvSpPr txBox="1">
            <a:spLocks/>
          </p:cNvSpPr>
          <p:nvPr/>
        </p:nvSpPr>
        <p:spPr>
          <a:xfrm>
            <a:off x="741572" y="4209649"/>
            <a:ext cx="164394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Gunathilaka M.A.S.		Anonymous Counseling		Demonstrates real-time chat and</a:t>
            </a:r>
          </a:p>
          <a:p>
            <a:r>
              <a:rPr lang="en-US" sz="2600" dirty="0">
                <a:solidFill>
                  <a:srgbClr val="27354C"/>
                </a:solidFill>
                <a:latin typeface="Inter"/>
                <a:ea typeface="Inter"/>
              </a:rPr>
              <a:t>IT22341136									intervention suggestions</a:t>
            </a:r>
          </a:p>
        </p:txBody>
      </p:sp>
    </p:spTree>
    <p:extLst>
      <p:ext uri="{BB962C8B-B14F-4D97-AF65-F5344CB8AC3E}">
        <p14:creationId xmlns:p14="http://schemas.microsoft.com/office/powerpoint/2010/main" val="3771409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1A5F2A-D9F9-65B0-8C80-622F7A18FC34}"/>
              </a:ext>
            </a:extLst>
          </p:cNvPr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6B4CEE0-175F-64B1-C99A-C2AB612EB9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D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99E84B-26C4-911B-8743-ECE4686BD4C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6B778F1-240C-AF2C-754F-37EFAFCF0572}"/>
              </a:ext>
            </a:extLst>
          </p:cNvPr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74A7662-EB2C-C6E5-6CE3-A56BFF2AF47C}"/>
              </a:ext>
            </a:extLst>
          </p:cNvPr>
          <p:cNvGrpSpPr/>
          <p:nvPr/>
        </p:nvGrpSpPr>
        <p:grpSpPr>
          <a:xfrm>
            <a:off x="13756206" y="-514350"/>
            <a:ext cx="6163724" cy="3086100"/>
            <a:chOff x="0" y="0"/>
            <a:chExt cx="1623368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C6C3234-6225-2A0A-F48E-55ED4FA32A49}"/>
                </a:ext>
              </a:extLst>
            </p:cNvPr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68F56A-2C8D-82C0-77CA-428BA3B4F915}"/>
                </a:ext>
              </a:extLst>
            </p:cNvPr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F75032E-5DFA-0583-53F0-501BD14FB377}"/>
              </a:ext>
            </a:extLst>
          </p:cNvPr>
          <p:cNvGrpSpPr/>
          <p:nvPr/>
        </p:nvGrpSpPr>
        <p:grpSpPr>
          <a:xfrm>
            <a:off x="-2582136" y="8362283"/>
            <a:ext cx="7059741" cy="3086100"/>
            <a:chOff x="0" y="0"/>
            <a:chExt cx="1859356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FE3B29-0236-710D-CE69-EF64B8FF78CF}"/>
                </a:ext>
              </a:extLst>
            </p:cNvPr>
            <p:cNvSpPr/>
            <p:nvPr/>
          </p:nvSpPr>
          <p:spPr>
            <a:xfrm>
              <a:off x="0" y="0"/>
              <a:ext cx="1859356" cy="812800"/>
            </a:xfrm>
            <a:custGeom>
              <a:avLst/>
              <a:gdLst/>
              <a:ahLst/>
              <a:cxnLst/>
              <a:rect l="l" t="t" r="r" b="b"/>
              <a:pathLst>
                <a:path w="1859356" h="812800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A27AF72-28AC-7B71-6788-CE9C0B0BD567}"/>
                </a:ext>
              </a:extLst>
            </p:cNvPr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A3270B0B-1C40-B189-5832-166A245976C9}"/>
              </a:ext>
            </a:extLst>
          </p:cNvPr>
          <p:cNvSpPr txBox="1"/>
          <p:nvPr/>
        </p:nvSpPr>
        <p:spPr>
          <a:xfrm>
            <a:off x="1771519" y="1990725"/>
            <a:ext cx="14744962" cy="726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99"/>
              </a:lnSpc>
            </a:pPr>
            <a:r>
              <a:rPr lang="en-US" sz="24999" b="1">
                <a:solidFill>
                  <a:srgbClr val="4E6E8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C11E25D-A488-C122-AE77-20FD70D39816}"/>
              </a:ext>
            </a:extLst>
          </p:cNvPr>
          <p:cNvGrpSpPr/>
          <p:nvPr/>
        </p:nvGrpSpPr>
        <p:grpSpPr>
          <a:xfrm>
            <a:off x="-337651" y="9415870"/>
            <a:ext cx="19188402" cy="938660"/>
            <a:chOff x="0" y="0"/>
            <a:chExt cx="5053735" cy="2472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EC6E621-56F0-0DA4-E709-BF76D994A6B3}"/>
                </a:ext>
              </a:extLst>
            </p:cNvPr>
            <p:cNvSpPr/>
            <p:nvPr/>
          </p:nvSpPr>
          <p:spPr>
            <a:xfrm>
              <a:off x="0" y="0"/>
              <a:ext cx="5053735" cy="247219"/>
            </a:xfrm>
            <a:custGeom>
              <a:avLst/>
              <a:gdLst/>
              <a:ahLst/>
              <a:cxnLst/>
              <a:rect l="l" t="t" r="r" b="b"/>
              <a:pathLst>
                <a:path w="5053735" h="247219">
                  <a:moveTo>
                    <a:pt x="0" y="0"/>
                  </a:moveTo>
                  <a:lnTo>
                    <a:pt x="5053735" y="0"/>
                  </a:lnTo>
                  <a:lnTo>
                    <a:pt x="5053735" y="247219"/>
                  </a:lnTo>
                  <a:lnTo>
                    <a:pt x="0" y="247219"/>
                  </a:lnTo>
                  <a:close/>
                </a:path>
              </a:pathLst>
            </a:custGeom>
            <a:solidFill>
              <a:srgbClr val="5F6F52">
                <a:alpha val="12941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137E184-05C3-52E5-96E3-074155F52CBA}"/>
                </a:ext>
              </a:extLst>
            </p:cNvPr>
            <p:cNvSpPr txBox="1"/>
            <p:nvPr/>
          </p:nvSpPr>
          <p:spPr>
            <a:xfrm>
              <a:off x="0" y="-47625"/>
              <a:ext cx="5053735" cy="294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AF415D54-9E3F-4C40-1511-B0A86A914E9B}"/>
              </a:ext>
            </a:extLst>
          </p:cNvPr>
          <p:cNvSpPr/>
          <p:nvPr/>
        </p:nvSpPr>
        <p:spPr>
          <a:xfrm>
            <a:off x="0" y="9415870"/>
            <a:ext cx="4237885" cy="834735"/>
          </a:xfrm>
          <a:custGeom>
            <a:avLst/>
            <a:gdLst/>
            <a:ahLst/>
            <a:cxnLst/>
            <a:rect l="l" t="t" r="r" b="b"/>
            <a:pathLst>
              <a:path w="4237885" h="834735">
                <a:moveTo>
                  <a:pt x="0" y="0"/>
                </a:moveTo>
                <a:lnTo>
                  <a:pt x="4237885" y="0"/>
                </a:lnTo>
                <a:lnTo>
                  <a:pt x="4237885" y="834735"/>
                </a:lnTo>
                <a:lnTo>
                  <a:pt x="0" y="834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E4F5219-6C79-2D9D-DA3C-FB4A15A8B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1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5" ma:contentTypeDescription="Create a new document." ma:contentTypeScope="" ma:versionID="443b6eff589a3590e004aec6acf86a11">
  <xsd:schema xmlns:xsd="http://www.w3.org/2001/XMLSchema" xmlns:xs="http://www.w3.org/2001/XMLSchema" xmlns:p="http://schemas.microsoft.com/office/2006/metadata/properties" xmlns:ns3="162a7144-2f0e-4714-bb73-c0ccd69df26f" xmlns:ns4="afaca268-e3b2-4935-9488-571ad382c364" targetNamespace="http://schemas.microsoft.com/office/2006/metadata/properties" ma:root="true" ma:fieldsID="5776eac7c31e0a62532c0587bde3f93e" ns3:_="" ns4:_="">
    <xsd:import namespace="162a7144-2f0e-4714-bb73-c0ccd69df26f"/>
    <xsd:import namespace="afaca268-e3b2-4935-9488-571ad382c36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  <xsd:element ref="ns4:MediaServiceObjectDetectorVersions" minOccurs="0"/>
                <xsd:element ref="ns4:MediaLengthInSecond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63B58E-9460-45F5-B44A-9E39F48D3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4A3D96-16A2-437A-8463-10A6AAFE82EA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162a7144-2f0e-4714-bb73-c0ccd69df26f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afaca268-e3b2-4935-9488-571ad382c364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C013DA7-CF22-4B6E-8A81-B47147F95C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2a7144-2f0e-4714-bb73-c0ccd69df26f"/>
    <ds:schemaRef ds:uri="afaca268-e3b2-4935-9488-571ad382c3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944</Words>
  <Application>Microsoft Office PowerPoint</Application>
  <PresentationFormat>Custom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Glacial Indifference Bold</vt:lpstr>
      <vt:lpstr>Poppins</vt:lpstr>
      <vt:lpstr>Aptos</vt:lpstr>
      <vt:lpstr>Roboto</vt:lpstr>
      <vt:lpstr>Futura</vt:lpstr>
      <vt:lpstr>Inter</vt:lpstr>
      <vt:lpstr>Futura Bold</vt:lpstr>
      <vt:lpstr>Calibri</vt:lpstr>
      <vt:lpstr>Arial</vt:lpstr>
      <vt:lpstr>League Spartan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Raajapaksha R.N.D.K.</dc:title>
  <dc:creator>Buddhini Jayasooriya</dc:creator>
  <cp:lastModifiedBy>RAJAPAKSHA R N D K it22315632</cp:lastModifiedBy>
  <cp:revision>21</cp:revision>
  <dcterms:created xsi:type="dcterms:W3CDTF">2006-08-16T00:00:00Z</dcterms:created>
  <dcterms:modified xsi:type="dcterms:W3CDTF">2026-03-09T22:19:45Z</dcterms:modified>
  <dc:identifier>DAGyEuw4evc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